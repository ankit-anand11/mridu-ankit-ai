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8.xml" ContentType="application/vnd.openxmlformats-officedocument.presentationml.notesSlide+xml"/>
  <Override PartName="/ppt/notesSlides/notesSlide3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8.xml" ContentType="application/vnd.openxmlformats-officedocument.presentationml.slide+xml"/>
  <Override PartName="/ppt/slides/slide3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62" r:id="rId1"/>
  </p:sldMasterIdLst>
  <p:notesMasterIdLst>
    <p:notesMasterId r:id="rId50"/>
  </p:notesMasterIdLst>
  <p:handoutMasterIdLst>
    <p:handoutMasterId r:id="rId51"/>
  </p:handoutMasterIdLst>
  <p:sldIdLst>
    <p:sldId id="473" r:id="rId2"/>
    <p:sldId id="404" r:id="rId6"/>
    <p:sldId id="405" r:id="rId7"/>
    <p:sldId id="408" r:id="rId8"/>
    <p:sldId id="428" r:id="rId23"/>
    <p:sldId id="406" r:id="rId9"/>
    <p:sldId id="543" r:id="rId58"/>
    <p:sldId id="425" r:id="rId25"/>
    <p:sldId id="417" r:id="rId18"/>
    <p:sldId id="544" r:id="rId59"/>
    <p:sldId id="545" r:id="rId60"/>
    <p:sldId id="546" r:id="rId61"/>
    <p:sldId id="422" r:id="rId37"/>
    <p:sldId id="547" r:id="rId62"/>
    <p:sldId id="548" r:id="rId63"/>
    <p:sldId id="549" r:id="rId64"/>
    <p:sldId id="418" r:id="rId21"/>
    <p:sldId id="420" r:id="rId29"/>
    <p:sldId id="550" r:id="rId65"/>
    <p:sldId id="551" r:id="rId66"/>
    <p:sldId id="475" r:id="rId12"/>
    <p:sldId id="552" r:id="rId67"/>
    <p:sldId id="542" r:id="rId20"/>
    <p:sldId id="439" r:id="rId49"/>
    <p:sldId id="472" r:id="rId48"/>
  </p:sldIdLst>
  <p:sldSz cx="24387175" cy="13716000"/>
  <p:notesSz cx="6858000" cy="9144000"/>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Template slides" id="{4700659D-582D-3B47-8AF6-59C9324AA29A}">
          <p14:sldIdLst>
            <p14:sldId id="473"/>
            <p14:sldId id="474"/>
            <p14:sldId id="402"/>
            <p14:sldId id="403"/>
            <p14:sldId id="404"/>
            <p14:sldId id="405"/>
            <p14:sldId id="408"/>
            <p14:sldId id="406"/>
            <p14:sldId id="407"/>
            <p14:sldId id="410"/>
            <p14:sldId id="475"/>
            <p14:sldId id="507"/>
            <p14:sldId id="413"/>
            <p14:sldId id="535"/>
            <p14:sldId id="415"/>
            <p14:sldId id="440"/>
            <p14:sldId id="417"/>
            <p14:sldId id="427"/>
            <p14:sldId id="542"/>
            <p14:sldId id="418"/>
            <p14:sldId id="508"/>
            <p14:sldId id="428"/>
            <p14:sldId id="426"/>
            <p14:sldId id="425"/>
            <p14:sldId id="509"/>
            <p14:sldId id="419"/>
            <p14:sldId id="414"/>
            <p14:sldId id="420"/>
            <p14:sldId id="511"/>
            <p14:sldId id="482"/>
            <p14:sldId id="512"/>
            <p14:sldId id="484"/>
            <p14:sldId id="513"/>
            <p14:sldId id="421"/>
            <p14:sldId id="514"/>
            <p14:sldId id="422"/>
            <p14:sldId id="515"/>
            <p14:sldId id="540"/>
            <p14:sldId id="541"/>
            <p14:sldId id="470"/>
            <p14:sldId id="441"/>
            <p14:sldId id="471"/>
            <p14:sldId id="433"/>
            <p14:sldId id="536"/>
            <p14:sldId id="469"/>
            <p14:sldId id="437"/>
            <p14:sldId id="472"/>
            <p14:sldId id="43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240C83-B322-10D6-062F-819233246F17}" name="Diana Stanciulescu" initials="DS" userId="S::diana.stanciulescu@ro.ibm.com::8457c4d8-b183-4fb8-9506-2337bdfae6b8" providerId="AD"/>
  <p188:author id="{471F5894-9527-7E5F-AE6F-3881B44FA2B8}" name="Gabriel Barbu" initials="" userId="S::gabriel.barbu@ibm.com::3d0c1c4c-23d9-4258-9226-f99453c129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868"/>
    <p:restoredTop sz="76163"/>
  </p:normalViewPr>
  <p:slideViewPr>
    <p:cSldViewPr snapToGrid="0" snapToObjects="1">
      <p:cViewPr varScale="1">
        <p:scale>
          <a:sx n="56" d="100"/>
          <a:sy n="56" d="100"/>
        </p:scale>
        <p:origin x="2120" y="216"/>
      </p:cViewPr>
      <p:guideLst/>
    </p:cSldViewPr>
  </p:slideViewPr>
  <p:outlineViewPr>
    <p:cViewPr>
      <p:scale>
        <a:sx n="33" d="100"/>
        <a:sy n="33" d="100"/>
      </p:scale>
      <p:origin x="-56" y="0"/>
    </p:cViewPr>
  </p:outlineViewPr>
  <p:notesTextViewPr>
    <p:cViewPr>
      <p:scale>
        <a:sx n="120" d="100"/>
        <a:sy n="120" d="100"/>
      </p:scale>
      <p:origin x="0" y="0"/>
    </p:cViewPr>
  </p:notesTextViewPr>
  <p:sorterViewPr>
    <p:cViewPr>
      <p:scale>
        <a:sx n="66" d="100"/>
        <a:sy n="66" d="100"/>
      </p:scale>
      <p:origin x="0" y="0"/>
    </p:cViewPr>
  </p:sorterViewPr>
  <p:notesViewPr>
    <p:cSldViewPr snapToGrid="0" snapToObject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2" Type="http://schemas.openxmlformats.org/officeDocument/2006/relationships/slide" Target="slides/slide11.xml"/><Relationship Id="rId18" Type="http://schemas.openxmlformats.org/officeDocument/2006/relationships/slide" Target="slides/slide17.xml"/><Relationship Id="rId20" Type="http://schemas.openxmlformats.org/officeDocument/2006/relationships/slide" Target="slides/slide19.xml"/><Relationship Id="rId21" Type="http://schemas.openxmlformats.org/officeDocument/2006/relationships/slide" Target="slides/slide20.xml"/><Relationship Id="rId23" Type="http://schemas.openxmlformats.org/officeDocument/2006/relationships/slide" Target="slides/slide22.xml"/><Relationship Id="rId25" Type="http://schemas.openxmlformats.org/officeDocument/2006/relationships/slide" Target="slides/slide24.xml"/><Relationship Id="rId29" Type="http://schemas.openxmlformats.org/officeDocument/2006/relationships/slide" Target="slides/slide28.xml"/><Relationship Id="rId37" Type="http://schemas.openxmlformats.org/officeDocument/2006/relationships/slide" Target="slides/slide3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handoutMaster" Target="handoutMasters/handoutMaster1.xml"/><Relationship Id="rId52" Type="http://schemas.openxmlformats.org/officeDocument/2006/relationships/commentAuthors" Target="commentAuthors.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8/10/relationships/authors" Target="authors.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dirty="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IBM Plex Sans Light" panose="020B0503050203000203" pitchFamily="34" charset="0"/>
                <a:ea typeface="IBM Plex Sans Light" charset="0"/>
                <a:cs typeface="IBM Plex Sans Light"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6710" y="228600"/>
            <a:ext cx="6419088" cy="3612324"/>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6710" y="4087090"/>
            <a:ext cx="6419088" cy="4320309"/>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6"/>
          <p:cNvSpPr>
            <a:spLocks noGrp="1"/>
          </p:cNvSpPr>
          <p:nvPr>
            <p:ph type="sldNum" sz="quarter" idx="5"/>
          </p:nvPr>
        </p:nvSpPr>
        <p:spPr>
          <a:xfrm>
            <a:off x="6300216" y="87050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21945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dirty="0"/>
              <a:t>Footer</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2438522" rtl="0" eaLnBrk="1" latinLnBrk="0" hangingPunct="1">
      <a:lnSpc>
        <a:spcPct val="110000"/>
      </a:lnSpc>
      <a:spcBef>
        <a:spcPts val="0"/>
      </a:spcBef>
      <a:defRPr sz="1200" b="0" i="0" kern="1200">
        <a:solidFill>
          <a:schemeClr val="bg1"/>
        </a:solidFill>
        <a:latin typeface="IBM Plex Sans Light" panose="020B0503050203000203" pitchFamily="34" charset="0"/>
        <a:ea typeface="+mn-ea"/>
        <a:cs typeface="+mn-cs"/>
      </a:defRPr>
    </a:lvl1pPr>
    <a:lvl2pPr marL="465690" indent="-452991" algn="l" defTabSz="2438522" rtl="0" eaLnBrk="1" latinLnBrk="0" hangingPunct="1">
      <a:lnSpc>
        <a:spcPct val="110000"/>
      </a:lnSpc>
      <a:spcBef>
        <a:spcPts val="0"/>
      </a:spcBef>
      <a:buFont typeface="IBM Plex Sans"/>
      <a:buChar char="–"/>
      <a:tabLst/>
      <a:defRPr sz="1200" b="0" i="0" kern="1200">
        <a:solidFill>
          <a:schemeClr val="bg1"/>
        </a:solidFill>
        <a:latin typeface="IBM Plex Sans Light" panose="020B0503050203000203" pitchFamily="34" charset="0"/>
        <a:ea typeface="+mn-ea"/>
        <a:cs typeface="+mn-cs"/>
      </a:defRPr>
    </a:lvl2pPr>
    <a:lvl3pPr marL="926638" indent="-463319" algn="l" defTabSz="2438522" rtl="0" eaLnBrk="1" latinLnBrk="0" hangingPunct="1">
      <a:lnSpc>
        <a:spcPct val="110000"/>
      </a:lnSpc>
      <a:spcBef>
        <a:spcPts val="0"/>
      </a:spcBef>
      <a:buFont typeface="IBM Plex Sans Light" panose="020B0604020202020204" pitchFamily="34" charset="0"/>
      <a:buChar char="•"/>
      <a:tabLst/>
      <a:defRPr sz="1200" b="0" i="0" kern="1200">
        <a:solidFill>
          <a:schemeClr val="bg1"/>
        </a:solidFill>
        <a:latin typeface="IBM Plex Sans Light" panose="020B0503050203000203" pitchFamily="34" charset="0"/>
        <a:ea typeface="+mn-ea"/>
        <a:cs typeface="+mn-cs"/>
      </a:defRPr>
    </a:lvl3pPr>
    <a:lvl4pPr marL="1682580" indent="-463319" algn="l" defTabSz="2438522" rtl="0" eaLnBrk="1" latinLnBrk="0" hangingPunct="1">
      <a:lnSpc>
        <a:spcPct val="110000"/>
      </a:lnSpc>
      <a:spcBef>
        <a:spcPts val="0"/>
      </a:spcBef>
      <a:buFont typeface="IBM Plex Sans Light"/>
      <a:buChar char="–"/>
      <a:tabLst/>
      <a:defRPr sz="1200" b="0" i="0" kern="1200">
        <a:solidFill>
          <a:schemeClr val="bg1"/>
        </a:solidFill>
        <a:latin typeface="IBM Plex Sans Light" panose="020B05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Mridusmita Nath, UX Researcher / Ankit Anand, Designer</a:t>
            </a:r>
          </a:p>
          <a:p>
            <a:r>
              <a:t>• August 2026 | IBM webMethods</a:t>
            </a:r>
          </a:p>
        </p:txBody>
      </p:sp>
      <p:sp>
        <p:nvSpPr>
          <p:cNvPr id="4" name="Slide Number Placeholder 3"/>
          <p:cNvSpPr>
            <a:spLocks noGrp="1"/>
          </p:cNvSpPr>
          <p:nvPr>
            <p:ph type="sldNum" sz="quarter" idx="5"/>
          </p:nvPr>
        </p:nvSpPr>
        <p:spPr/>
        <p:txBody>
          <a:bodyPr/>
          <a:lstStyle/>
          <a:p>
            <a:fld id="{6E2E38B8-B0B4-AD41-AC6E-B781F46A9FD3}" type="slidenum">
              <a:rPr lang="en-US" smtClean="0"/>
              <a:pPr/>
              <a:t>1</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252003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Agenda</a:t>
            </a:r>
          </a:p>
          <a:p>
            <a:r>
              <a:t>• The problem</a:t>
            </a:r>
          </a:p>
          <a:p>
            <a:r>
              <a:t>• Research findings</a:t>
            </a:r>
          </a:p>
          <a:p>
            <a:r>
              <a:t>• Market landscape</a:t>
            </a:r>
          </a:p>
          <a:p>
            <a:r>
              <a:t>• The solution</a:t>
            </a:r>
          </a:p>
          <a:p>
            <a:r>
              <a:t>• The IBM experience</a:t>
            </a:r>
          </a:p>
          <a:p>
            <a:r>
              <a:t>• Next steps</a:t>
            </a:r>
          </a:p>
        </p:txBody>
      </p:sp>
      <p:sp>
        <p:nvSpPr>
          <p:cNvPr id="4" name="Slide Number Placeholder 3"/>
          <p:cNvSpPr>
            <a:spLocks noGrp="1"/>
          </p:cNvSpPr>
          <p:nvPr>
            <p:ph type="sldNum" sz="quarter" idx="5"/>
          </p:nvPr>
        </p:nvSpPr>
        <p:spPr/>
        <p:txBody>
          <a:bodyPr/>
          <a:lstStyle/>
          <a:p>
            <a:fld id="{6E2E38B8-B0B4-AD41-AC6E-B781F46A9FD3}" type="slidenum">
              <a:rPr lang="en-US" smtClean="0"/>
              <a:pPr/>
              <a:t>5</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2623346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01  The problem</a:t>
            </a:r>
          </a:p>
        </p:txBody>
      </p:sp>
      <p:sp>
        <p:nvSpPr>
          <p:cNvPr id="4" name="Slide Number Placeholder 3"/>
          <p:cNvSpPr>
            <a:spLocks noGrp="1"/>
          </p:cNvSpPr>
          <p:nvPr>
            <p:ph type="sldNum" sz="quarter" idx="5"/>
          </p:nvPr>
        </p:nvSpPr>
        <p:spPr/>
        <p:txBody>
          <a:bodyPr/>
          <a:lstStyle/>
          <a:p>
            <a:fld id="{6E2E38B8-B0B4-AD41-AC6E-B781F46A9FD3}" type="slidenum">
              <a:rPr lang="en-US" smtClean="0"/>
              <a:pPr/>
              <a:t>6</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1717028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IBM teams ship non-Carbon UI every day — and no one can tell until it breaks.</a:t>
            </a:r>
          </a:p>
        </p:txBody>
      </p:sp>
      <p:sp>
        <p:nvSpPr>
          <p:cNvPr id="4" name="Slide Number Placeholder 3"/>
          <p:cNvSpPr>
            <a:spLocks noGrp="1"/>
          </p:cNvSpPr>
          <p:nvPr>
            <p:ph type="sldNum" sz="quarter" idx="5"/>
          </p:nvPr>
        </p:nvSpPr>
        <p:spPr/>
        <p:txBody>
          <a:bodyPr/>
          <a:lstStyle/>
          <a:p>
            <a:fld id="{6E2E38B8-B0B4-AD41-AC6E-B781F46A9FD3}" type="slidenum">
              <a:rPr lang="en-US" smtClean="0"/>
              <a:pPr/>
              <a:t>7</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2522138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The token gap is invisible</a:t>
            </a:r>
          </a:p>
          <a:p>
            <a:r>
              <a:t>• “If they are really using the Carbon component, are they really using the tokens? No one has any idea. So that gap is still there.”</a:t>
            </a:r>
          </a:p>
          <a:p>
            <a:r>
              <a:t>• Senthil kumaran pattabiraman — tech lead, IBM API (webmethods)</a:t>
            </a:r>
          </a:p>
        </p:txBody>
      </p:sp>
      <p:sp>
        <p:nvSpPr>
          <p:cNvPr id="4" name="Slide Number Placeholder 3"/>
          <p:cNvSpPr>
            <a:spLocks noGrp="1"/>
          </p:cNvSpPr>
          <p:nvPr>
            <p:ph type="sldNum" sz="quarter" idx="5"/>
          </p:nvPr>
        </p:nvSpPr>
        <p:spPr/>
        <p:txBody>
          <a:bodyPr/>
          <a:lstStyle/>
          <a:p>
            <a:fld id="{6E2E38B8-B0B4-AD41-AC6E-B781F46A9FD3}" type="slidenum">
              <a:rPr lang="en-US" smtClean="0"/>
              <a:pPr/>
              <a:t>8</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20511096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Why this is buildable now</a:t>
            </a:r>
          </a:p>
          <a:p>
            <a:r>
              <a:t>• 0</a:t>
            </a:r>
          </a:p>
          <a:p>
            <a:r>
              <a:t>• 0</a:t>
            </a:r>
          </a:p>
          <a:p>
            <a:r>
              <a:t>• Live</a:t>
            </a:r>
          </a:p>
          <a:p>
            <a:r>
              <a:t>• New tools required — everything runs through Bob infrastructure IBM teams already use</a:t>
            </a:r>
          </a:p>
          <a:p>
            <a:r>
              <a:t>• Procurement needed — carbon MCP, figma MCP, and Jira MCP are available to all IBM teams today</a:t>
            </a:r>
          </a:p>
          <a:p>
            <a:r>
              <a:t>• Carbon MCP rule source — maintained by the Carbon team, never stale, no configuration required</a:t>
            </a:r>
          </a:p>
          <a:p>
            <a:r>
              <a:t>• ('Carbon MCP public preview, august 2026 | figma MCP connected in Bob | Jira MCP available as Bob skill', 0)</a:t>
            </a:r>
          </a:p>
        </p:txBody>
      </p:sp>
      <p:sp>
        <p:nvSpPr>
          <p:cNvPr id="4" name="Slide Number Placeholder 3"/>
          <p:cNvSpPr>
            <a:spLocks noGrp="1"/>
          </p:cNvSpPr>
          <p:nvPr>
            <p:ph type="sldNum" sz="quarter" idx="5"/>
          </p:nvPr>
        </p:nvSpPr>
        <p:spPr/>
        <p:txBody>
          <a:bodyPr/>
          <a:lstStyle/>
          <a:p>
            <a:fld id="{6E2E38B8-B0B4-AD41-AC6E-B781F46A9FD3}" type="slidenum">
              <a:rPr lang="en-US" smtClean="0"/>
              <a:pPr/>
              <a:t>11</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34685864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Token compliance is invisible</a:t>
            </a:r>
          </a:p>
          <a:p>
            <a:r>
              <a:t>• Spacing is copied as px values from figma inspect. colours are pasted as hex codes. the screen looks correct — but the code is not carbon-compliant. no tool can detect this.</a:t>
            </a:r>
          </a:p>
          <a:p>
            <a:r>
              <a:t>• Non-compliant code can merge with no accountability. issues surface in QA post-merge — or are never caught. without a gate, teams have no recourse when problems surface late.</a:t>
            </a:r>
          </a:p>
          <a:p>
            <a:r>
              <a:t>• When Bob generates UI in a repo with legacy components, it reuses them without warning. developers must explicitly say 'use carbon' — compliance is opt-in, not default.</a:t>
            </a:r>
          </a:p>
        </p:txBody>
      </p:sp>
      <p:sp>
        <p:nvSpPr>
          <p:cNvPr id="4" name="Slide Number Placeholder 3"/>
          <p:cNvSpPr>
            <a:spLocks noGrp="1"/>
          </p:cNvSpPr>
          <p:nvPr>
            <p:ph type="sldNum" sz="quarter" idx="5"/>
          </p:nvPr>
        </p:nvSpPr>
        <p:spPr/>
        <p:txBody>
          <a:bodyPr/>
          <a:lstStyle/>
          <a:p>
            <a:fld id="{6E2E38B8-B0B4-AD41-AC6E-B781F46A9FD3}" type="slidenum">
              <a:rPr lang="en-US" smtClean="0"/>
              <a:pPr/>
              <a:t>17</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32415954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0B898-762B-BEC4-B794-45BE01AB82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A527D-9FD4-5EED-55C9-AD7833390CFC}"/>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9E502AFE-0799-2018-8732-35C04BAC05D1}"/>
              </a:ext>
            </a:extLst>
          </p:cNvPr>
          <p:cNvSpPr>
            <a:spLocks noGrp="1"/>
          </p:cNvSpPr>
          <p:nvPr>
            <p:ph type="body" idx="1"/>
          </p:nvPr>
        </p:nvSpPr>
        <p:spPr/>
        <p:txBody>
          <a:bodyPr/>
          <a:lstStyle/>
          <a:p>
            <a:r>
              <a:t>• Validate report format</a:t>
            </a:r>
          </a:p>
          <a:p>
            <a:r>
              <a:t>• Generate a real compliance report on the API team's current sprint work</a:t>
            </a:r>
          </a:p>
          <a:p>
            <a:r>
              <a:t>• Show Senthil the Jira ticket output</a:t>
            </a:r>
          </a:p>
          <a:p>
            <a:r>
              <a:t>• Iterate on report format before opening to other teams</a:t>
            </a:r>
          </a:p>
          <a:p>
            <a:r>
              <a:t>• Set up code connect on a pilot figma frame with the API team</a:t>
            </a:r>
          </a:p>
          <a:p>
            <a:r>
              <a:t>• Confirm Jira board ID and label taxonomy</a:t>
            </a:r>
          </a:p>
          <a:p>
            <a:r>
              <a:t>• Build the Bob skill scaffold and report template</a:t>
            </a:r>
          </a:p>
        </p:txBody>
      </p:sp>
      <p:sp>
        <p:nvSpPr>
          <p:cNvPr id="4" name="Slide Number Placeholder 3">
            <a:extLst>
              <a:ext uri="{FF2B5EF4-FFF2-40B4-BE49-F238E27FC236}">
                <a16:creationId xmlns:a16="http://schemas.microsoft.com/office/drawing/2014/main" id="{972E12E8-32AF-6BAA-67D5-2075B265902F}"/>
              </a:ext>
            </a:extLst>
          </p:cNvPr>
          <p:cNvSpPr>
            <a:spLocks noGrp="1"/>
          </p:cNvSpPr>
          <p:nvPr>
            <p:ph type="sldNum" sz="quarter" idx="5"/>
          </p:nvPr>
        </p:nvSpPr>
        <p:spPr/>
        <p:txBody>
          <a:bodyPr/>
          <a:lstStyle/>
          <a:p>
            <a:fld id="{6E2E38B8-B0B4-AD41-AC6E-B781F46A9FD3}" type="slidenum">
              <a:rPr lang="en-US" smtClean="0"/>
              <a:pPr/>
              <a:t>19</a:t>
            </a:fld>
            <a:endParaRPr lang="en-US" dirty="0"/>
          </a:p>
        </p:txBody>
      </p:sp>
      <p:sp>
        <p:nvSpPr>
          <p:cNvPr id="5" name="Footer Placeholder 4">
            <a:extLst>
              <a:ext uri="{FF2B5EF4-FFF2-40B4-BE49-F238E27FC236}">
                <a16:creationId xmlns:a16="http://schemas.microsoft.com/office/drawing/2014/main" id="{91627F86-B6EF-B0DE-5075-940548C05411}"/>
              </a:ext>
            </a:extLst>
          </p:cNvPr>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36634010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A carbon compliance workflow — from figma frame to code branch to Jira ticket — delivered as a conversation in Bob</a:t>
            </a:r>
          </a:p>
          <a:p>
            <a:r>
              <a:t>• A carbon compliance workflow — from figma frame to code branch to Jira ticket — delivered as a conversation in Bob</a:t>
            </a:r>
          </a:p>
          <a:p>
            <a:r>
              <a:t>• Not a linter. not a visual regression tool. not a documentation platform.</a:t>
            </a:r>
          </a:p>
          <a:p>
            <a:r>
              <a:t>• UX reviewer uses carbon MCP as its live rule source — the same documentation maintained by the carbon team, updated with every release. no static rule files. no configuration. no procurement.</a:t>
            </a:r>
          </a:p>
          <a:p>
            <a:r>
              <a:t>• It works where IBM teams already work — inside Bob, via natural language.</a:t>
            </a:r>
          </a:p>
          <a:p>
            <a:r>
              <a:t>• 04</a:t>
            </a:r>
          </a:p>
        </p:txBody>
      </p:sp>
      <p:sp>
        <p:nvSpPr>
          <p:cNvPr id="4" name="Slide Number Placeholder 3"/>
          <p:cNvSpPr>
            <a:spLocks noGrp="1"/>
          </p:cNvSpPr>
          <p:nvPr>
            <p:ph type="sldNum" sz="quarter" idx="5"/>
          </p:nvPr>
        </p:nvSpPr>
        <p:spPr/>
        <p:txBody>
          <a:bodyPr/>
          <a:lstStyle/>
          <a:p>
            <a:fld id="{6E2E38B8-B0B4-AD41-AC6E-B781F46A9FD3}" type="slidenum">
              <a:rPr lang="en-US" smtClean="0"/>
              <a:pPr/>
              <a:t>20</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15282286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Why Carbon compliance is hard to enforce today</a:t>
            </a:r>
          </a:p>
          <a:p>
            <a:r>
              <a:t>• Teams implement from figma but have no way to verify whether the code they write uses the right carbon components, the right variants, or the right design tokens. spacing is copied as raw pixel values. colour tokens are bypassed with hex codes. wrong components are inherited from legacy codebases without any warning.</a:t>
            </a:r>
          </a:p>
          <a:p/>
          <a:p>
            <a:r>
              <a:t>All of this looks correct on screen — until a theme switch breaks it, an accessibility audit fails, or a design review catches it post-merge.</a:t>
            </a:r>
          </a:p>
          <a:p>
            <a:r>
              <a:t>• The review process that should catch these issues is manual, ad hoc, and late. designers review a screen recording attached to a PR. QA catches issues after merge. some teams have no review gate at all.</a:t>
            </a:r>
          </a:p>
          <a:p/>
          <a:p>
            <a:r>
              <a:t>This creates compounding UX debt: inconsistent experiences, maintenance liability, and a widening gap between what was designed and what was built — with no shared artefact to trace back to.</a:t>
            </a:r>
          </a:p>
        </p:txBody>
      </p:sp>
      <p:sp>
        <p:nvSpPr>
          <p:cNvPr id="4" name="Slide Number Placeholder 3"/>
          <p:cNvSpPr>
            <a:spLocks noGrp="1"/>
          </p:cNvSpPr>
          <p:nvPr>
            <p:ph type="sldNum" sz="quarter" idx="5"/>
          </p:nvPr>
        </p:nvSpPr>
        <p:spPr/>
        <p:txBody>
          <a:bodyPr/>
          <a:lstStyle/>
          <a:p>
            <a:fld id="{6E2E38B8-B0B4-AD41-AC6E-B781F46A9FD3}" type="slidenum">
              <a:rPr lang="en-US" smtClean="0"/>
              <a:pPr/>
              <a:t>22</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17202626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3 developer interviews</a:t>
            </a:r>
          </a:p>
          <a:p>
            <a:r>
              <a:t>• Sahana S — frontend dev, integration (carbon react, hex fallbacks)</a:t>
            </a:r>
          </a:p>
          <a:p>
            <a:r>
              <a:t>• Senthil kumaran — tech lead, API (100% carbon, AI PDLC rules in place)</a:t>
            </a:r>
          </a:p>
          <a:p>
            <a:r>
              <a:t>• Hariharan SV — frontend dev, integration (angular / primeng, no figma dev mode)</a:t>
            </a:r>
          </a:p>
          <a:p>
            <a:r>
              <a:t>• Conducted: 21 August 2026</a:t>
            </a:r>
          </a:p>
          <a:p>
            <a:r>
              <a:t>• Nagaraj Venkatraj — webMethods B2B (6 years, high custom component debt)</a:t>
            </a:r>
          </a:p>
          <a:p>
            <a:r>
              <a:t>• Diya susan joseph — API management (full carbon, PR review gate enforced)</a:t>
            </a:r>
          </a:p>
          <a:p>
            <a:r>
              <a:t>• Animesh jain — webmethods integration (~1.5 years, severe design–dev drift)</a:t>
            </a:r>
          </a:p>
          <a:p>
            <a:r>
              <a:t>• Conducted: 20 August 2026</a:t>
            </a:r>
          </a:p>
        </p:txBody>
      </p:sp>
      <p:sp>
        <p:nvSpPr>
          <p:cNvPr id="4" name="Slide Number Placeholder 3"/>
          <p:cNvSpPr>
            <a:spLocks noGrp="1"/>
          </p:cNvSpPr>
          <p:nvPr>
            <p:ph type="sldNum" sz="quarter" idx="5"/>
          </p:nvPr>
        </p:nvSpPr>
        <p:spPr/>
        <p:txBody>
          <a:bodyPr/>
          <a:lstStyle/>
          <a:p>
            <a:fld id="{6E2E38B8-B0B4-AD41-AC6E-B781F46A9FD3}" type="slidenum">
              <a:rPr lang="en-US" smtClean="0"/>
              <a:pPr/>
              <a:t>24</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33318410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C1 — Figma compliance</a:t>
            </a:r>
          </a:p>
          <a:p>
            <a:r>
              <a:t>• Identify carbon vs. custom components. flag wrong variants. name the correct carbon alternative.</a:t>
            </a:r>
          </a:p>
          <a:p>
            <a:r>
              <a:t>• Detect hardcoded hex and px values per node. name the carbon token that should replace each.</a:t>
            </a:r>
          </a:p>
          <a:p>
            <a:r>
              <a:t>• Scan imports and SCSS for non-Carbon components and hardcoded values. Suggest replacements.</a:t>
            </a:r>
          </a:p>
          <a:p>
            <a:r>
              <a:t>• Compare figma vs. implementation. generate a structured report. auto-create a Jira ticket.</a:t>
            </a:r>
          </a:p>
          <a:p>
            <a:r>
              <a:t>• Six capabilities. One workflow.</a:t>
            </a:r>
          </a:p>
        </p:txBody>
      </p:sp>
      <p:sp>
        <p:nvSpPr>
          <p:cNvPr id="4" name="Slide Number Placeholder 3"/>
          <p:cNvSpPr>
            <a:spLocks noGrp="1"/>
          </p:cNvSpPr>
          <p:nvPr>
            <p:ph type="sldNum" sz="quarter" idx="5"/>
          </p:nvPr>
        </p:nvSpPr>
        <p:spPr/>
        <p:txBody>
          <a:bodyPr/>
          <a:lstStyle/>
          <a:p>
            <a:fld id="{6E2E38B8-B0B4-AD41-AC6E-B781F46A9FD3}" type="slidenum">
              <a:rPr lang="en-US" smtClean="0"/>
              <a:pPr/>
              <a:t>28</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6955910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FigmaLint</a:t>
            </a:r>
          </a:p>
          <a:p>
            <a:r>
              <a:t>• AI token &amp; component audit inside figma. detects hardcoded values pre-handoff. figma-only — no code inspection, no carbon knowledge.</a:t>
            </a:r>
          </a:p>
          <a:p>
            <a:r>
              <a:t>• Visual regression CI gate. blocks PR on pixel-level changes. cannot distinguish carbon button from a custom look-alike. not carbon-aware.</a:t>
            </a:r>
          </a:p>
          <a:p>
            <a:r>
              <a:t>• Design system management with code adoption tracking (enterprise). framework-agnostic — does not flag specific carbon violations in a branch.</a:t>
            </a:r>
          </a:p>
          <a:p>
            <a:r>
              <a:t>• Figma-to-code token pipeline. ensures tokens exist in the codebase. cannot detect whether a developer bypassed them with a hardcoded value.</a:t>
            </a:r>
          </a:p>
          <a:p>
            <a:r>
              <a:t>• Living design system documentation with MCP. Adoption measured at doc-page level, not code level. No compliance checking.</a:t>
            </a:r>
          </a:p>
          <a:p>
            <a:r>
              <a:t>• All five tools are design-system-agnostic. none ships with carbon rules pre-loaded. none integrates figma + code + Jira in one workflow.</a:t>
            </a:r>
          </a:p>
        </p:txBody>
      </p:sp>
      <p:sp>
        <p:nvSpPr>
          <p:cNvPr id="4" name="Slide Number Placeholder 3"/>
          <p:cNvSpPr>
            <a:spLocks noGrp="1"/>
          </p:cNvSpPr>
          <p:nvPr>
            <p:ph type="sldNum" sz="quarter" idx="5"/>
          </p:nvPr>
        </p:nvSpPr>
        <p:spPr/>
        <p:txBody>
          <a:bodyPr/>
          <a:lstStyle/>
          <a:p>
            <a:fld id="{6E2E38B8-B0B4-AD41-AC6E-B781F46A9FD3}" type="slidenum">
              <a:rPr lang="en-US" smtClean="0"/>
              <a:pPr/>
              <a:t>36</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329405653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Slide 25: UNKNOWN</a:t>
            </a:r>
          </a:p>
        </p:txBody>
      </p:sp>
      <p:sp>
        <p:nvSpPr>
          <p:cNvPr id="4" name="Slide Number Placeholder 3"/>
          <p:cNvSpPr>
            <a:spLocks noGrp="1"/>
          </p:cNvSpPr>
          <p:nvPr>
            <p:ph type="sldNum" sz="quarter" idx="5"/>
          </p:nvPr>
        </p:nvSpPr>
        <p:spPr/>
        <p:txBody>
          <a:bodyPr/>
          <a:lstStyle/>
          <a:p>
            <a:fld id="{6E2E38B8-B0B4-AD41-AC6E-B781F46A9FD3}" type="slidenum">
              <a:rPr lang="en-US" smtClean="0"/>
              <a:pPr/>
              <a:t>47</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41206947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Slide 24: UNKNOWN</a:t>
            </a:r>
          </a:p>
        </p:txBody>
      </p:sp>
      <p:sp>
        <p:nvSpPr>
          <p:cNvPr id="4" name="Slide Number Placeholder 3"/>
          <p:cNvSpPr>
            <a:spLocks noGrp="1"/>
          </p:cNvSpPr>
          <p:nvPr>
            <p:ph type="sldNum" sz="quarter" idx="5"/>
          </p:nvPr>
        </p:nvSpPr>
        <p:spPr/>
        <p:txBody>
          <a:bodyPr/>
          <a:lstStyle/>
          <a:p>
            <a:fld id="{6E2E38B8-B0B4-AD41-AC6E-B781F46A9FD3}" type="slidenum">
              <a:rPr lang="en-US" smtClean="0"/>
              <a:pPr/>
              <a:t>48</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263731994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02  What we heard — research</a:t>
            </a:r>
          </a:p>
        </p:txBody>
      </p:sp>
      <p:sp>
        <p:nvSpPr>
          <p:cNvPr id="4" name="Slide Number Placeholder 3"/>
          <p:cNvSpPr>
            <a:spLocks noGrp="1"/>
          </p:cNvSpPr>
          <p:nvPr>
            <p:ph type="sldNum" sz="quarter" idx="5"/>
          </p:nvPr>
        </p:nvSpPr>
        <p:spPr/>
        <p:txBody>
          <a:bodyPr/>
          <a:lstStyle/>
          <a:p>
            <a:fld id="{6E2E38B8-B0B4-AD41-AC6E-B781F46A9FD3}" type="slidenum">
              <a:rPr lang="en-US" smtClean="0"/>
              <a:pPr/>
              <a:t>6</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17170286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Custom components create debt</a:t>
            </a:r>
          </a:p>
          <a:p>
            <a:r>
              <a:t>• Components built during past migrations are now orphaned — no carbon owner, full maintenance burden on the product team. accessibility failures become the team's liability.</a:t>
            </a:r>
          </a:p>
          <a:p>
            <a:r>
              <a:t>• Designers forget to flag broken components verbally. developers search for a non-existent carbon component and build something incorrect. rework cycles follow every feature.</a:t>
            </a:r>
          </a:p>
          <a:p>
            <a:r>
              <a:t>• Animesh: 'I spent 2 hours annotating changes, then waited 2 weeks for implementation, then reviewed again.' Without a formal gate, design drift accumulates silently and is caught too late.</a:t>
            </a:r>
          </a:p>
        </p:txBody>
      </p:sp>
      <p:sp>
        <p:nvSpPr>
          <p:cNvPr id="4" name="Slide Number Placeholder 3"/>
          <p:cNvSpPr>
            <a:spLocks noGrp="1"/>
          </p:cNvSpPr>
          <p:nvPr>
            <p:ph type="sldNum" sz="quarter" idx="5"/>
          </p:nvPr>
        </p:nvSpPr>
        <p:spPr/>
        <p:txBody>
          <a:bodyPr/>
          <a:lstStyle/>
          <a:p>
            <a:fld id="{6E2E38B8-B0B4-AD41-AC6E-B781F46A9FD3}" type="slidenum">
              <a:rPr lang="en-US" smtClean="0"/>
              <a:pPr/>
              <a:t>17</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324159549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The PR gate model works</a:t>
            </a:r>
          </a:p>
          <a:p>
            <a:r>
              <a:t>• “Unless you approve, it can’t get merged — so they will get pulled up for it. So they will do it fast so that you review it.”</a:t>
            </a:r>
          </a:p>
          <a:p>
            <a:r>
              <a:t>• Diya susan joseph — designer, IBM API management (webmethods)</a:t>
            </a:r>
          </a:p>
        </p:txBody>
      </p:sp>
      <p:sp>
        <p:nvSpPr>
          <p:cNvPr id="4" name="Slide Number Placeholder 3"/>
          <p:cNvSpPr>
            <a:spLocks noGrp="1"/>
          </p:cNvSpPr>
          <p:nvPr>
            <p:ph type="sldNum" sz="quarter" idx="5"/>
          </p:nvPr>
        </p:nvSpPr>
        <p:spPr/>
        <p:txBody>
          <a:bodyPr/>
          <a:lstStyle/>
          <a:p>
            <a:fld id="{6E2E38B8-B0B4-AD41-AC6E-B781F46A9FD3}" type="slidenum">
              <a:rPr lang="en-US" smtClean="0"/>
              <a:pPr/>
              <a:t>8</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20511096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03  What the market offers</a:t>
            </a:r>
          </a:p>
        </p:txBody>
      </p:sp>
      <p:sp>
        <p:nvSpPr>
          <p:cNvPr id="4" name="Slide Number Placeholder 3"/>
          <p:cNvSpPr>
            <a:spLocks noGrp="1"/>
          </p:cNvSpPr>
          <p:nvPr>
            <p:ph type="sldNum" sz="quarter" idx="5"/>
          </p:nvPr>
        </p:nvSpPr>
        <p:spPr/>
        <p:txBody>
          <a:bodyPr/>
          <a:lstStyle/>
          <a:p>
            <a:fld id="{6E2E38B8-B0B4-AD41-AC6E-B781F46A9FD3}" type="slidenum">
              <a:rPr lang="en-US" smtClean="0"/>
              <a:pPr/>
              <a:t>6</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171702867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G1 — Hardcoded values</a:t>
            </a:r>
          </a:p>
          <a:p>
            <a:r>
              <a:t>• No tool detects hex/px values in a developer's branch and maps them to the correct Carbon token.</a:t>
            </a:r>
          </a:p>
          <a:p>
            <a:r>
              <a:t>• No tool flags a primeng component and names the carbon web component replacement.</a:t>
            </a:r>
          </a:p>
          <a:p>
            <a:r>
              <a:t>• Chromatic blocks on visual regression only. No tool blocks on Carbon compliance.</a:t>
            </a:r>
          </a:p>
          <a:p>
            <a:r>
              <a:t>• No tool compares what was designed in Figma against what was built in the branch.</a:t>
            </a:r>
          </a:p>
          <a:p>
            <a:r>
              <a:t>• No tool turns compliance findings into a Jira ticket with acceptance criteria.</a:t>
            </a:r>
          </a:p>
          <a:p>
            <a:r>
              <a:t>• All five tools are design-system-agnostic. none ships carbon-aware out of the box.</a:t>
            </a:r>
          </a:p>
        </p:txBody>
      </p:sp>
      <p:sp>
        <p:nvSpPr>
          <p:cNvPr id="4" name="Slide Number Placeholder 3"/>
          <p:cNvSpPr>
            <a:spLocks noGrp="1"/>
          </p:cNvSpPr>
          <p:nvPr>
            <p:ph type="sldNum" sz="quarter" idx="5"/>
          </p:nvPr>
        </p:nvSpPr>
        <p:spPr/>
        <p:txBody>
          <a:bodyPr/>
          <a:lstStyle/>
          <a:p>
            <a:fld id="{6E2E38B8-B0B4-AD41-AC6E-B781F46A9FD3}" type="slidenum">
              <a:rPr lang="en-US" smtClean="0"/>
              <a:pPr/>
              <a:t>36</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329405653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04 the solution — UX reviewer</a:t>
            </a:r>
          </a:p>
        </p:txBody>
      </p:sp>
      <p:sp>
        <p:nvSpPr>
          <p:cNvPr id="4" name="Slide Number Placeholder 3"/>
          <p:cNvSpPr>
            <a:spLocks noGrp="1"/>
          </p:cNvSpPr>
          <p:nvPr>
            <p:ph type="sldNum" sz="quarter" idx="5"/>
          </p:nvPr>
        </p:nvSpPr>
        <p:spPr/>
        <p:txBody>
          <a:bodyPr/>
          <a:lstStyle/>
          <a:p>
            <a:fld id="{6E2E38B8-B0B4-AD41-AC6E-B781F46A9FD3}" type="slidenum">
              <a:rPr lang="en-US" smtClean="0"/>
              <a:pPr/>
              <a:t>6</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171702867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UX Reviewer closes all six gaps — inside Bob, using infrastructure IBM teams already have.</a:t>
            </a:r>
          </a:p>
        </p:txBody>
      </p:sp>
      <p:sp>
        <p:nvSpPr>
          <p:cNvPr id="4" name="Slide Number Placeholder 3"/>
          <p:cNvSpPr>
            <a:spLocks noGrp="1"/>
          </p:cNvSpPr>
          <p:nvPr>
            <p:ph type="sldNum" sz="quarter" idx="5"/>
          </p:nvPr>
        </p:nvSpPr>
        <p:spPr/>
        <p:txBody>
          <a:bodyPr/>
          <a:lstStyle/>
          <a:p>
            <a:fld id="{6E2E38B8-B0B4-AD41-AC6E-B781F46A9FD3}" type="slidenum">
              <a:rPr lang="en-US" smtClean="0"/>
              <a:pPr/>
              <a:t>7</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25221386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The experience — designer</a:t>
            </a:r>
          </a:p>
          <a:p>
            <a:r>
              <a:t>• "Review this figma frame for carbon compliance"</a:t>
            </a:r>
          </a:p>
          <a:p>
            <a:r>
              <a:t>→ pastes figma URL</a:t>
            </a:r>
          </a:p>
          <a:p/>
          <a:p>
            <a:r>
              <a:t>Returns:</a:t>
            </a:r>
          </a:p>
          <a:p>
            <a:r>
              <a:t>Which components are wrong or custom</a:t>
            </a:r>
          </a:p>
          <a:p>
            <a:r>
              <a:t>Which tokens are hardcoded</a:t>
            </a:r>
          </a:p>
          <a:p>
            <a:r>
              <a:t>Which spacing values are off-grid</a:t>
            </a:r>
          </a:p>
          <a:p>
            <a:r>
              <a:t>All findings with Carbon references and severity ratings</a:t>
            </a:r>
          </a:p>
          <a:p>
            <a:r>
              <a:t>• No plugins to install</a:t>
            </a:r>
          </a:p>
          <a:p>
            <a:r>
              <a:t>No API keys to manage</a:t>
            </a:r>
          </a:p>
          <a:p>
            <a:r>
              <a:t>No Carbon rules to configure</a:t>
            </a:r>
          </a:p>
          <a:p>
            <a:r>
              <a:t>No separate dashboard or login</a:t>
            </a:r>
          </a:p>
          <a:p/>
          <a:p>
            <a:r>
              <a:t>Works in the same Bob conversation the team already uses.</a:t>
            </a:r>
          </a:p>
          <a:p/>
          <a:p>
            <a:r>
              <a:t>Powered by: figma MCP + carbon MCP</a:t>
            </a:r>
          </a:p>
        </p:txBody>
      </p:sp>
      <p:sp>
        <p:nvSpPr>
          <p:cNvPr id="4" name="Slide Number Placeholder 3"/>
          <p:cNvSpPr>
            <a:spLocks noGrp="1"/>
          </p:cNvSpPr>
          <p:nvPr>
            <p:ph type="sldNum" sz="quarter" idx="5"/>
          </p:nvPr>
        </p:nvSpPr>
        <p:spPr/>
        <p:txBody>
          <a:bodyPr/>
          <a:lstStyle/>
          <a:p>
            <a:fld id="{6E2E38B8-B0B4-AD41-AC6E-B781F46A9FD3}" type="slidenum">
              <a:rPr lang="en-US" smtClean="0"/>
              <a:pPr/>
              <a:t>22</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172026261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The experience — developer</a:t>
            </a:r>
          </a:p>
          <a:p>
            <a:r>
              <a:t>• "Check my branch for Carbon compliance"</a:t>
            </a:r>
          </a:p>
          <a:p/>
          <a:p>
            <a:r>
              <a:t>Returns:</a:t>
            </a:r>
          </a:p>
          <a:p>
            <a:r>
              <a:t>Non-Carbon imports — with Carbon replacement named</a:t>
            </a:r>
          </a:p>
          <a:p>
            <a:r>
              <a:t>Hardcoded SCSS values — with correct Carbon token named</a:t>
            </a:r>
          </a:p>
          <a:p>
            <a:r>
              <a:t>File-by-file findings list</a:t>
            </a:r>
          </a:p>
          <a:p/>
          <a:p>
            <a:r>
              <a:t>"Create a Jira ticket from these findings"</a:t>
            </a:r>
          </a:p>
          <a:p>
            <a:r>
              <a:t>→ Structured ticket created automatically:</a:t>
            </a:r>
          </a:p>
          <a:p>
            <a:r>
              <a:t>  Title, description, severity-ranked findings,</a:t>
            </a:r>
          </a:p>
          <a:p>
            <a:r>
              <a:t>  acceptance criteria, labels, assignee</a:t>
            </a:r>
          </a:p>
          <a:p>
            <a:r>
              <a:t>• Developer takes the ticket to Bob:</a:t>
            </a:r>
          </a:p>
          <a:p>
            <a:r>
              <a:t>"Fix the issues in this ticket"</a:t>
            </a:r>
          </a:p>
          <a:p>
            <a:r>
              <a:t>→ Bob reads the acceptance criteria</a:t>
            </a:r>
          </a:p>
          <a:p>
            <a:r>
              <a:t>→ Bob fixes the code</a:t>
            </a:r>
          </a:p>
          <a:p>
            <a:r>
              <a:t>→ Developer reviews and approves</a:t>
            </a:r>
          </a:p>
          <a:p/>
          <a:p>
            <a:r>
              <a:t>The compliance loop is closed — without a single manual step.</a:t>
            </a:r>
          </a:p>
          <a:p/>
          <a:p>
            <a:r>
              <a:t>Powered by: Bob file tools + Carbon MCP + Jira MCP</a:t>
            </a:r>
          </a:p>
        </p:txBody>
      </p:sp>
      <p:sp>
        <p:nvSpPr>
          <p:cNvPr id="4" name="Slide Number Placeholder 3"/>
          <p:cNvSpPr>
            <a:spLocks noGrp="1"/>
          </p:cNvSpPr>
          <p:nvPr>
            <p:ph type="sldNum" sz="quarter" idx="5"/>
          </p:nvPr>
        </p:nvSpPr>
        <p:spPr/>
        <p:txBody>
          <a:bodyPr/>
          <a:lstStyle/>
          <a:p>
            <a:fld id="{6E2E38B8-B0B4-AD41-AC6E-B781F46A9FD3}" type="slidenum">
              <a:rPr lang="en-US" smtClean="0"/>
              <a:pPr/>
              <a:t>22</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172026261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t>• 05  Next steps</a:t>
            </a:r>
          </a:p>
        </p:txBody>
      </p:sp>
      <p:sp>
        <p:nvSpPr>
          <p:cNvPr id="4" name="Slide Number Placeholder 3"/>
          <p:cNvSpPr>
            <a:spLocks noGrp="1"/>
          </p:cNvSpPr>
          <p:nvPr>
            <p:ph type="sldNum" sz="quarter" idx="5"/>
          </p:nvPr>
        </p:nvSpPr>
        <p:spPr/>
        <p:txBody>
          <a:bodyPr/>
          <a:lstStyle/>
          <a:p>
            <a:fld id="{6E2E38B8-B0B4-AD41-AC6E-B781F46A9FD3}" type="slidenum">
              <a:rPr lang="en-US" smtClean="0"/>
              <a:pPr/>
              <a:t>6</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17170286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1"/>
            <a:ext cx="24387175" cy="12195175"/>
          </a:xfrm>
          <a:solidFill>
            <a:srgbClr val="E0E0E0"/>
          </a:solidFill>
        </p:spPr>
        <p:txBody>
          <a:bodyPr anchor="ctr"/>
          <a:lstStyle>
            <a:lvl1pPr algn="ctr">
              <a:defRPr>
                <a:solidFill>
                  <a:schemeClr val="accent5"/>
                </a:solidFill>
              </a:defRPr>
            </a:lvl1pPr>
          </a:lstStyle>
          <a:p>
            <a:r>
              <a:rPr lang="en-US" dirty="0"/>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GB" dirty="0"/>
              <a:t>Click to edit Master title style</a:t>
            </a:r>
            <a:endParaRPr lang="en-US" dirty="0"/>
          </a:p>
        </p:txBody>
      </p:sp>
    </p:spTree>
    <p:extLst>
      <p:ext uri="{BB962C8B-B14F-4D97-AF65-F5344CB8AC3E}">
        <p14:creationId xmlns:p14="http://schemas.microsoft.com/office/powerpoint/2010/main" val="4196795180"/>
      </p:ext>
    </p:extLst>
  </p:cSld>
  <p:clrMapOvr>
    <a:masterClrMapping/>
  </p:clrMapOvr>
  <p:transition spd="med"/>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1"/>
            <a:ext cx="24387175" cy="12195175"/>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GB" dirty="0"/>
              <a:t>Click to edit Master title style</a:t>
            </a:r>
            <a:endParaRPr lang="en-US" dirty="0"/>
          </a:p>
        </p:txBody>
      </p:sp>
    </p:spTree>
    <p:extLst>
      <p:ext uri="{BB962C8B-B14F-4D97-AF65-F5344CB8AC3E}">
        <p14:creationId xmlns:p14="http://schemas.microsoft.com/office/powerpoint/2010/main" val="169867043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GB" dirty="0"/>
              <a:t>Click to edit Master title style</a:t>
            </a:r>
            <a:endParaRPr lang="en-US" dirty="0"/>
          </a:p>
        </p:txBody>
      </p:sp>
    </p:spTree>
    <p:extLst>
      <p:ext uri="{BB962C8B-B14F-4D97-AF65-F5344CB8AC3E}">
        <p14:creationId xmlns:p14="http://schemas.microsoft.com/office/powerpoint/2010/main" val="222487865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00" y="12479147"/>
            <a:ext cx="11038445" cy="762000"/>
          </a:xfrm>
        </p:spPr>
        <p:txBody>
          <a:bodyPr anchor="b"/>
          <a:lstStyle>
            <a:lvl1pPr>
              <a:lnSpc>
                <a:spcPct val="110000"/>
              </a:lnSpc>
              <a:spcBef>
                <a:spcPts val="0"/>
              </a:spcBef>
              <a:defRPr sz="2800">
                <a:solidFill>
                  <a:schemeClr val="tx1"/>
                </a:solidFill>
              </a:defRPr>
            </a:lvl1pPr>
          </a:lstStyle>
          <a:p>
            <a:pPr lvl="0"/>
            <a:r>
              <a:rPr lang="en-GB"/>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81717495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499" y="571499"/>
            <a:ext cx="11043132" cy="12578663"/>
          </a:xfrm>
          <a:solidFill>
            <a:srgbClr val="E0E0E0"/>
          </a:solidFill>
        </p:spPr>
        <p:txBody>
          <a:bodyPr anchor="ctr"/>
          <a:lstStyle>
            <a:lvl1pPr algn="ctr">
              <a:defRPr>
                <a:solidFill>
                  <a:schemeClr val="accent5"/>
                </a:solidFill>
              </a:defRPr>
            </a:lvl1pPr>
          </a:lstStyle>
          <a:p>
            <a:r>
              <a:rPr lang="en-US" dirty="0"/>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GB" dirty="0"/>
              <a:t>Click to edit Master title style</a:t>
            </a:r>
            <a:endParaRPr lang="en-US" dirty="0"/>
          </a:p>
        </p:txBody>
      </p:sp>
    </p:spTree>
    <p:extLst>
      <p:ext uri="{BB962C8B-B14F-4D97-AF65-F5344CB8AC3E}">
        <p14:creationId xmlns:p14="http://schemas.microsoft.com/office/powerpoint/2010/main" val="415261400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00"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GB"/>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00" y="1512000"/>
            <a:ext cx="10099675" cy="9147175"/>
          </a:xfrm>
        </p:spPr>
        <p:txBody>
          <a:bodyPr/>
          <a:lstStyle>
            <a:lvl1pPr>
              <a:lnSpc>
                <a:spcPct val="100000"/>
              </a:lnSpc>
              <a:defRPr sz="8400">
                <a:solidFill>
                  <a:schemeClr val="tx2"/>
                </a:solidFill>
              </a:defRPr>
            </a:lvl1pPr>
          </a:lstStyle>
          <a:p>
            <a:r>
              <a:rPr lang="en-GB" dirty="0"/>
              <a:t>Click to edit Master title style</a:t>
            </a:r>
            <a:endParaRPr lang="en-US" dirty="0"/>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12763499" y="569913"/>
            <a:ext cx="11043132" cy="1258025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34020936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4942078" cy="4210050"/>
          </a:xfrm>
        </p:spPr>
        <p:txBody>
          <a:bodyPr/>
          <a:lstStyle>
            <a:lvl1pPr>
              <a:lnSpc>
                <a:spcPct val="100000"/>
              </a:lnSpc>
              <a:defRPr sz="6800">
                <a:solidFill>
                  <a:schemeClr val="tx2"/>
                </a:solidFill>
              </a:defRPr>
            </a:lvl1pPr>
          </a:lstStyle>
          <a:p>
            <a:r>
              <a:rPr lang="en-GB" dirty="0"/>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6675" y="574675"/>
            <a:ext cx="4953000" cy="11617318"/>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74675"/>
            <a:ext cx="4941888" cy="11620500"/>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76000" y="12816000"/>
            <a:ext cx="4956176" cy="381000"/>
          </a:xfrm>
        </p:spPr>
        <p:txBody>
          <a:bodyPr/>
          <a:lstStyle/>
          <a:p>
            <a:endParaRPr lang="en-US" dirty="0"/>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14303940"/>
      </p:ext>
    </p:extLst>
  </p:cSld>
  <p:clrMapOvr>
    <a:masterClrMapping/>
  </p:clrMapOvr>
  <p:transition spd="med"/>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11036491" cy="2663825"/>
          </a:xfrm>
        </p:spPr>
        <p:txBody>
          <a:bodyPr rIns="457200"/>
          <a:lstStyle>
            <a:lvl1pPr>
              <a:lnSpc>
                <a:spcPct val="100000"/>
              </a:lnSpc>
              <a:defRPr sz="6800">
                <a:solidFill>
                  <a:schemeClr val="tx2"/>
                </a:solidFill>
              </a:defRPr>
            </a:lvl1pPr>
          </a:lstStyle>
          <a:p>
            <a:r>
              <a:rPr lang="en-GB" dirty="0"/>
              <a:t>Click to edit Master title style</a:t>
            </a:r>
            <a:endParaRPr lang="en-US" dirty="0"/>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7283910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6000" y="309600"/>
            <a:ext cx="17141825" cy="8832850"/>
          </a:xfrm>
        </p:spPr>
        <p:txBody>
          <a:bodyPr/>
          <a:lstStyle>
            <a:lvl1pPr>
              <a:defRPr sz="16800" b="0" i="0">
                <a:solidFill>
                  <a:schemeClr val="tx2"/>
                </a:solidFill>
                <a:latin typeface="IBM Plex Sans ExtLt" panose="020B0303050203000203" pitchFamily="34" charset="0"/>
              </a:defRPr>
            </a:lvl1pPr>
          </a:lstStyle>
          <a:p>
            <a:r>
              <a:rPr lang="en-GB" dirty="0"/>
              <a:t>Click to edit Master title style</a:t>
            </a:r>
            <a:endParaRPr lang="en-US" dirty="0"/>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20180837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9909175" cy="4209670"/>
          </a:xfrm>
        </p:spPr>
        <p:txBody>
          <a:bodyPr/>
          <a:lstStyle>
            <a:lvl1pPr>
              <a:lnSpc>
                <a:spcPct val="100000"/>
              </a:lnSpc>
              <a:defRPr sz="6800">
                <a:solidFill>
                  <a:schemeClr val="tx2"/>
                </a:solidFill>
              </a:defRPr>
            </a:lvl1pPr>
          </a:lstStyle>
          <a:p>
            <a:r>
              <a:rPr lang="en-GB" dirty="0"/>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80000" y="384048"/>
            <a:ext cx="11042073" cy="8778494"/>
          </a:xfrm>
        </p:spPr>
        <p:txBody>
          <a:bodyPr/>
          <a:lstStyle>
            <a:lvl1pPr>
              <a:lnSpc>
                <a:spcPct val="100000"/>
              </a:lnSpc>
              <a:spcBef>
                <a:spcPts val="0"/>
              </a:spcBef>
              <a:defRPr sz="6800">
                <a:solidFill>
                  <a:schemeClr val="tx2"/>
                </a:solidFill>
              </a:defRPr>
            </a:lvl1pPr>
            <a:lvl2pPr marL="585216" indent="-585216">
              <a:lnSpc>
                <a:spcPct val="100000"/>
              </a:lnSpc>
              <a:spcBef>
                <a:spcPts val="0"/>
              </a:spcBef>
              <a:defRPr sz="6800">
                <a:solidFill>
                  <a:schemeClr val="tx2"/>
                </a:solidFill>
              </a:defRPr>
            </a:lvl2pPr>
            <a:lvl3pPr marL="1097280" indent="-585216">
              <a:lnSpc>
                <a:spcPct val="100000"/>
              </a:lnSpc>
              <a:spcBef>
                <a:spcPts val="0"/>
              </a:spcBef>
              <a:defRPr sz="6800">
                <a:solidFill>
                  <a:schemeClr val="tx2"/>
                </a:solidFill>
              </a:defRPr>
            </a:lvl3pPr>
            <a:lvl4pPr marL="1755648">
              <a:lnSpc>
                <a:spcPct val="100000"/>
              </a:lnSpc>
              <a:spcBef>
                <a:spcPts val="0"/>
              </a:spcBef>
              <a:defRPr sz="6800">
                <a:solidFill>
                  <a:schemeClr val="tx2"/>
                </a:solidFill>
              </a:defRPr>
            </a:lvl4pPr>
            <a:lvl5pPr>
              <a:lnSpc>
                <a:spcPct val="100000"/>
              </a:lnSpc>
              <a:spcBef>
                <a:spcPts val="0"/>
              </a:spcBef>
              <a:defRPr sz="64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4220607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576000" y="12816000"/>
            <a:ext cx="4943476" cy="381000"/>
          </a:xfrm>
        </p:spPr>
        <p:txBody>
          <a:bodyPr/>
          <a:lstStyle/>
          <a:p>
            <a:endParaRPr lang="en-US" dirty="0"/>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576000" y="309600"/>
            <a:ext cx="14649450" cy="10356265"/>
          </a:xfrm>
        </p:spPr>
        <p:txBody>
          <a:bodyPr/>
          <a:lstStyle>
            <a:lvl1pPr>
              <a:lnSpc>
                <a:spcPct val="100000"/>
              </a:lnSpc>
              <a:defRPr sz="8400"/>
            </a:lvl1pPr>
          </a:lstStyle>
          <a:p>
            <a:pPr lvl="0"/>
            <a:r>
              <a:rPr lang="en-GB" dirty="0"/>
              <a:t>Click to edit Master text styles</a:t>
            </a:r>
          </a:p>
        </p:txBody>
      </p:sp>
    </p:spTree>
    <p:extLst>
      <p:ext uri="{BB962C8B-B14F-4D97-AF65-F5344CB8AC3E}">
        <p14:creationId xmlns:p14="http://schemas.microsoft.com/office/powerpoint/2010/main" val="147160319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00" y="576072"/>
            <a:ext cx="7623175"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628222"/>
            <a:ext cx="11050588" cy="3353065"/>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12193587"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80000" y="576072"/>
            <a:ext cx="7620000"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80000" y="9628222"/>
            <a:ext cx="11049000" cy="3354293"/>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dirty="0"/>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576000" y="12816000"/>
            <a:ext cx="4956176" cy="381000"/>
          </a:xfrm>
        </p:spPr>
        <p:txBody>
          <a:bodyPr/>
          <a:lstStyle/>
          <a:p>
            <a:endParaRPr lang="en-US" dirty="0"/>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44747819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GB" dirty="0"/>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1907912"/>
          </a:xfrm>
        </p:spPr>
        <p:txBody>
          <a:bodyPr/>
          <a:lstStyle>
            <a:lvl1pPr>
              <a:lnSpc>
                <a:spcPct val="90000"/>
              </a:lnSpc>
              <a:defRPr sz="13200">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7"/>
            <a:ext cx="4951413"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80000" y="385200"/>
            <a:ext cx="4949825" cy="1906588"/>
          </a:xfrm>
        </p:spPr>
        <p:txBody>
          <a:bodyPr/>
          <a:lstStyle>
            <a:lvl1pPr>
              <a:lnSpc>
                <a:spcPct val="90000"/>
              </a:lnSpc>
              <a:defRPr sz="13200">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80000" y="2334654"/>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385200"/>
            <a:ext cx="4949825" cy="1903413"/>
          </a:xfrm>
        </p:spPr>
        <p:txBody>
          <a:bodyPr/>
          <a:lstStyle>
            <a:lvl1pPr>
              <a:lnSpc>
                <a:spcPct val="90000"/>
              </a:lnSpc>
              <a:defRPr sz="13200">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70675"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8336805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594475"/>
            <a:ext cx="11045952" cy="5340096"/>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6000" y="309600"/>
            <a:ext cx="4949825" cy="5335586"/>
          </a:xfrm>
        </p:spPr>
        <p:txBody>
          <a:bodyPr/>
          <a:lstStyle>
            <a:lvl1pPr>
              <a:lnSpc>
                <a:spcPct val="100000"/>
              </a:lnSpc>
              <a:defRPr sz="8400">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309600"/>
            <a:ext cx="11049000" cy="5335587"/>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577850" y="6097732"/>
            <a:ext cx="232346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6000" y="6594475"/>
            <a:ext cx="4946904" cy="5340096"/>
          </a:xfrm>
        </p:spPr>
        <p:txBody>
          <a:bodyPr/>
          <a:lstStyle>
            <a:lvl1pPr>
              <a:lnSpc>
                <a:spcPct val="100000"/>
              </a:lnSpc>
              <a:defRPr sz="84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74764434"/>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GB" dirty="0"/>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4048"/>
            <a:ext cx="4951413" cy="2859087"/>
          </a:xfrm>
        </p:spPr>
        <p:txBody>
          <a:bodyPr/>
          <a:lstStyle>
            <a:lvl1pPr>
              <a:lnSpc>
                <a:spcPct val="90000"/>
              </a:lnSpc>
              <a:defRPr sz="13200">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2897"/>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57517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957821"/>
            <a:ext cx="4951413" cy="2857506"/>
          </a:xfrm>
        </p:spPr>
        <p:txBody>
          <a:bodyPr/>
          <a:lstStyle>
            <a:lvl1pPr>
              <a:lnSpc>
                <a:spcPct val="90000"/>
              </a:lnSpc>
              <a:defRPr sz="13200">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5125969"/>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914082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9526645"/>
            <a:ext cx="4951411" cy="2668530"/>
          </a:xfrm>
        </p:spPr>
        <p:txBody>
          <a:bodyPr/>
          <a:lstStyle>
            <a:lvl1pPr>
              <a:lnSpc>
                <a:spcPct val="90000"/>
              </a:lnSpc>
              <a:defRPr sz="13200">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9670409"/>
            <a:ext cx="7620000" cy="252476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65611160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2078"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00"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6131349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70675"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044825"/>
            <a:ext cx="0" cy="91454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2"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0"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582422"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15231023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047999"/>
            <a:ext cx="4951413" cy="9156701"/>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2"/>
            <a:ext cx="495300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0"/>
            <a:ext cx="495300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12188952"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18859500" y="576072"/>
            <a:ext cx="495935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18859500" y="3048000"/>
            <a:ext cx="495935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9970703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00" y="3048000"/>
            <a:ext cx="4942078" cy="4578350"/>
          </a:xfrm>
        </p:spPr>
        <p:txBody>
          <a:bodyPr/>
          <a:lstStyle>
            <a:lvl1pPr>
              <a:lnSpc>
                <a:spcPct val="100000"/>
              </a:lnSpc>
              <a:spcBef>
                <a:spcPts val="0"/>
              </a:spcBef>
              <a:defRPr sz="3600">
                <a:solidFill>
                  <a:schemeClr val="tx1"/>
                </a:solidFill>
              </a:defRPr>
            </a:lvl1pPr>
          </a:lstStyle>
          <a:p>
            <a:pPr lvl="0"/>
            <a:r>
              <a:rPr lang="en-GB"/>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70675" y="3047999"/>
            <a:ext cx="4951413"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80000" y="576072"/>
            <a:ext cx="1216152" cy="1216152"/>
          </a:xfrm>
        </p:spPr>
        <p:txBody>
          <a:bodyPr anchor="ctr"/>
          <a:lstStyle>
            <a:lvl1pPr algn="ctr">
              <a:defRPr sz="1600">
                <a:solidFill>
                  <a:schemeClr val="tx1"/>
                </a:solidFill>
              </a:defRPr>
            </a:lvl1pPr>
          </a:lstStyle>
          <a:p>
            <a:r>
              <a:rPr lang="en-US" dirty="0"/>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80000" y="3047999"/>
            <a:ext cx="4942120" cy="9153524"/>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dirty="0"/>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62677" y="3047999"/>
            <a:ext cx="4941886"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6096000" y="570103"/>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95899409"/>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2078" cy="3117978"/>
          </a:xfrm>
        </p:spPr>
        <p:txBody>
          <a:bodyPr/>
          <a:lstStyle>
            <a:lvl1pPr>
              <a:lnSpc>
                <a:spcPct val="100000"/>
              </a:lnSpc>
              <a:defRPr sz="6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2" y="384048"/>
            <a:ext cx="4951414" cy="2201269"/>
          </a:xfrm>
        </p:spPr>
        <p:txBody>
          <a:bodyPr/>
          <a:lstStyle>
            <a:lvl1pPr>
              <a:lnSpc>
                <a:spcPct val="100000"/>
              </a:lnSpc>
              <a:spcBef>
                <a:spcPts val="0"/>
              </a:spcBef>
              <a:defRPr sz="68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GB"/>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9153" y="3047999"/>
            <a:ext cx="4951413"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5153" y="3047999"/>
            <a:ext cx="10096500"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53649678"/>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0" y="576072"/>
            <a:ext cx="7424927" cy="1906588"/>
          </a:xfr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0" y="3047999"/>
            <a:ext cx="10099675" cy="915352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0" y="3047999"/>
            <a:ext cx="10096500" cy="915352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74945124"/>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384048"/>
            <a:ext cx="11036491" cy="4210177"/>
          </a:xfrm>
        </p:spPr>
        <p:txBody>
          <a:bodyPr rIns="457200"/>
          <a:lstStyle>
            <a:lvl1pPr>
              <a:lnSpc>
                <a:spcPct val="100000"/>
              </a:lnSpc>
              <a:defRPr sz="6800">
                <a:solidFill>
                  <a:schemeClr val="tx2"/>
                </a:solidFill>
              </a:defRPr>
            </a:lvl1pPr>
          </a:lstStyle>
          <a:p>
            <a:r>
              <a:rPr lang="en-GB" dirty="0"/>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6675" y="576071"/>
            <a:ext cx="4949825"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71"/>
            <a:ext cx="4941888"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59821703"/>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576072"/>
            <a:ext cx="4942078" cy="3995927"/>
          </a:xfr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80000" y="576000"/>
            <a:ext cx="4953000"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00"/>
            <a:ext cx="4941888"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0495605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384048"/>
            <a:ext cx="11039476" cy="4210176"/>
          </a:xfrm>
        </p:spPr>
        <p:txBody>
          <a:bodyPr rIns="457200"/>
          <a:lstStyle>
            <a:lvl1pPr>
              <a:lnSpc>
                <a:spcPct val="100000"/>
              </a:lnSpc>
              <a:defRPr sz="6800">
                <a:solidFill>
                  <a:schemeClr val="tx2"/>
                </a:solidFill>
              </a:defRPr>
            </a:lvl1pPr>
          </a:lstStyle>
          <a:p>
            <a:r>
              <a:rPr lang="en-GB" dirty="0"/>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4"/>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7170831"/>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72"/>
            <a:ext cx="4949826" cy="3995927"/>
          </a:xfrm>
        </p:spPr>
        <p:txBody>
          <a:bodyPr rIns="0"/>
          <a:lstStyle>
            <a:lvl1pPr>
              <a:lnSpc>
                <a:spcPct val="110000"/>
              </a:lnSpc>
              <a:defRPr sz="2800">
                <a:solidFill>
                  <a:schemeClr val="tx2"/>
                </a:solidFill>
              </a:defRPr>
            </a:lvl1pPr>
          </a:lstStyle>
          <a:p>
            <a:r>
              <a:rPr lang="en-GB"/>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62675" y="576072"/>
            <a:ext cx="4942078"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29240754"/>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9825" cy="4210177"/>
          </a:xfrm>
        </p:spPr>
        <p:txBody>
          <a:bodyPr/>
          <a:lstStyle>
            <a:lvl1pPr>
              <a:lnSpc>
                <a:spcPct val="100000"/>
              </a:lnSpc>
              <a:defRPr sz="6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3110583"/>
          </a:xfrm>
        </p:spPr>
        <p:txBody>
          <a:bodyPr/>
          <a:lstStyle>
            <a:lvl1pPr>
              <a:lnSpc>
                <a:spcPct val="100000"/>
              </a:lnSpc>
              <a:spcBef>
                <a:spcPts val="0"/>
              </a:spcBef>
              <a:defRPr sz="68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GB"/>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16790"/>
            <a:ext cx="4951413" cy="9188588"/>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80000" y="576072"/>
            <a:ext cx="1216152" cy="1214462"/>
          </a:xfrm>
        </p:spPr>
        <p:txBody>
          <a:bodyPr anchor="ctr"/>
          <a:lstStyle>
            <a:lvl1pPr algn="ctr">
              <a:defRPr sz="1600">
                <a:solidFill>
                  <a:schemeClr val="tx1"/>
                </a:solidFill>
              </a:defRPr>
            </a:lvl1pPr>
          </a:lstStyle>
          <a:p>
            <a:r>
              <a:rPr lang="en-US" dirty="0"/>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dirty="0"/>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581024" y="12823285"/>
            <a:ext cx="4956176" cy="381000"/>
          </a:xfrm>
        </p:spPr>
        <p:txBody>
          <a:bodyPr/>
          <a:lstStyle/>
          <a:p>
            <a:endParaRPr lang="en-US" dirty="0"/>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3341252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dirty="0"/>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80000" y="576072"/>
            <a:ext cx="1216152" cy="1216152"/>
          </a:xfrm>
        </p:spPr>
        <p:txBody>
          <a:bodyPr anchor="ctr"/>
          <a:lstStyle>
            <a:lvl1pPr algn="ctr">
              <a:defRPr sz="1600"/>
            </a:lvl1pPr>
          </a:lstStyle>
          <a:p>
            <a:r>
              <a:rPr lang="en-US" dirty="0"/>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80000" y="24765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576072" y="6096000"/>
            <a:ext cx="2323642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dirty="0"/>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80000" y="6477000"/>
            <a:ext cx="1216152" cy="1216152"/>
          </a:xfrm>
        </p:spPr>
        <p:txBody>
          <a:bodyPr anchor="ctr"/>
          <a:lstStyle>
            <a:lvl1pPr algn="ctr">
              <a:defRPr sz="1600"/>
            </a:lvl1pPr>
          </a:lstStyle>
          <a:p>
            <a:r>
              <a:rPr lang="en-US" dirty="0"/>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80000" y="83820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80496384"/>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GB" dirty="0"/>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1524000"/>
            <a:ext cx="4948428" cy="3048000"/>
          </a:xfrm>
        </p:spPr>
        <p:txBody>
          <a:bodyPr/>
          <a:lstStyle>
            <a:lvl1pPr>
              <a:lnSpc>
                <a:spcPct val="110000"/>
              </a:lnSpc>
              <a:defRPr sz="3600">
                <a:solidFill>
                  <a:schemeClr val="tx2"/>
                </a:solidFill>
              </a:defRPr>
            </a:lvl1pPr>
          </a:lstStyle>
          <a:p>
            <a:r>
              <a:rPr lang="en-GB" dirty="0"/>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0433241"/>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GB" dirty="0"/>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576000" y="1523872"/>
            <a:ext cx="11044239" cy="4572128"/>
          </a:xfrm>
        </p:spPr>
        <p:txBody>
          <a:bodyPr rIns="457200"/>
          <a:lstStyle>
            <a:lvl1pPr>
              <a:lnSpc>
                <a:spcPct val="110000"/>
              </a:lnSpc>
              <a:defRPr sz="6800">
                <a:solidFill>
                  <a:schemeClr val="tx2"/>
                </a:solidFill>
              </a:defRPr>
            </a:lvl1pPr>
          </a:lstStyle>
          <a:p>
            <a:r>
              <a:rPr lang="en-GB" dirty="0"/>
              <a:t>Click to edit Master title style</a:t>
            </a:r>
            <a:endParaRPr lang="en-US" dirty="0"/>
          </a:p>
        </p:txBody>
      </p:sp>
    </p:spTree>
    <p:extLst>
      <p:ext uri="{BB962C8B-B14F-4D97-AF65-F5344CB8AC3E}">
        <p14:creationId xmlns:p14="http://schemas.microsoft.com/office/powerpoint/2010/main" val="3092975277"/>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0" y="576072"/>
            <a:ext cx="4942078" cy="3995928"/>
          </a:xfrm>
        </p:spPr>
        <p:txBody>
          <a:bodyPr/>
          <a:lstStyle>
            <a:lvl1pPr>
              <a:defRPr sz="2800">
                <a:solidFill>
                  <a:schemeClr val="tx2"/>
                </a:solidFill>
              </a:defRPr>
            </a:lvl1pPr>
          </a:lstStyle>
          <a:p>
            <a:pPr lvl="0"/>
            <a:r>
              <a:rPr lang="en-GB" dirty="0"/>
              <a:t>Click to edit Master text styles</a:t>
            </a:r>
          </a:p>
        </p:txBody>
      </p:sp>
    </p:spTree>
    <p:extLst>
      <p:ext uri="{BB962C8B-B14F-4D97-AF65-F5344CB8AC3E}">
        <p14:creationId xmlns:p14="http://schemas.microsoft.com/office/powerpoint/2010/main" val="2954362297"/>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00" y="384048"/>
            <a:ext cx="11036994" cy="4210177"/>
          </a:xfrm>
        </p:spPr>
        <p:txBody>
          <a:bodyPr rIns="457200"/>
          <a:lstStyle>
            <a:lvl1pPr>
              <a:lnSpc>
                <a:spcPct val="100000"/>
              </a:lnSpc>
              <a:defRPr sz="6800">
                <a:solidFill>
                  <a:schemeClr val="tx2"/>
                </a:solidFill>
              </a:defRPr>
            </a:lvl1pPr>
          </a:lstStyle>
          <a:p>
            <a:r>
              <a:rPr lang="en-GB" dirty="0"/>
              <a:t>Click to edit Master title style</a:t>
            </a:r>
            <a:endParaRPr lang="en-US" dirty="0"/>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581024" y="12823285"/>
            <a:ext cx="4956176" cy="381000"/>
          </a:xfrm>
        </p:spPr>
        <p:txBody>
          <a:bodyPr/>
          <a:lstStyle/>
          <a:p>
            <a:endParaRPr lang="en-US" dirty="0"/>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457828484"/>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6415"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1"/>
            <a:ext cx="4946904"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581024" y="12823285"/>
            <a:ext cx="4956176" cy="381000"/>
          </a:xfrm>
        </p:spPr>
        <p:txBody>
          <a:bodyPr/>
          <a:lstStyle/>
          <a:p>
            <a:endParaRPr lang="en-US" dirty="0"/>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6666415"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12763500"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18859499" y="6673850"/>
            <a:ext cx="4946904"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156056091"/>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GB" dirty="0"/>
              <a:t>Click to edit Master title style</a:t>
            </a:r>
            <a:endParaRPr lang="en-US" dirty="0"/>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499" y="1524000"/>
            <a:ext cx="4956048"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80000" y="576072"/>
            <a:ext cx="402336" cy="403225"/>
          </a:xfrm>
        </p:spPr>
        <p:txBody>
          <a:bodyPr/>
          <a:lstStyle>
            <a:lvl1pPr>
              <a:defRPr sz="1400">
                <a:solidFill>
                  <a:schemeClr val="tx1"/>
                </a:solidFill>
              </a:defRPr>
            </a:lvl1pPr>
          </a:lstStyle>
          <a:p>
            <a:r>
              <a:rPr lang="en-US" dirty="0"/>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80000" y="1524000"/>
            <a:ext cx="4953000"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dirty="0"/>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523999"/>
            <a:ext cx="4946904" cy="3999099"/>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dirty="0"/>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499" y="7623594"/>
            <a:ext cx="4956048" cy="399829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80000" y="6694631"/>
            <a:ext cx="402336" cy="403225"/>
          </a:xfrm>
        </p:spPr>
        <p:txBody>
          <a:bodyPr/>
          <a:lstStyle>
            <a:lvl1pPr>
              <a:defRPr sz="1400">
                <a:solidFill>
                  <a:schemeClr val="tx1"/>
                </a:solidFill>
              </a:defRPr>
            </a:lvl1pPr>
          </a:lstStyle>
          <a:p>
            <a:r>
              <a:rPr lang="en-US" dirty="0"/>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80000" y="7623594"/>
            <a:ext cx="4956048" cy="3998291"/>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dirty="0"/>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623594"/>
            <a:ext cx="4946904" cy="3998287"/>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576000" y="12816000"/>
            <a:ext cx="4956176" cy="381000"/>
          </a:xfrm>
        </p:spPr>
        <p:txBody>
          <a:bodyPr/>
          <a:lstStyle/>
          <a:p>
            <a:endParaRPr lang="en-US" dirty="0"/>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54205542"/>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384048"/>
            <a:ext cx="11039475" cy="3413126"/>
          </a:xfrm>
        </p:spPr>
        <p:txBody>
          <a:bodyPr rIns="457200"/>
          <a:lstStyle>
            <a:lvl1pPr>
              <a:lnSpc>
                <a:spcPct val="100000"/>
              </a:lnSpc>
              <a:defRPr sz="6800">
                <a:solidFill>
                  <a:schemeClr val="tx2"/>
                </a:solidFill>
              </a:defRPr>
            </a:lvl1pPr>
          </a:lstStyle>
          <a:p>
            <a:r>
              <a:rPr lang="en-GB" dirty="0"/>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6099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784512172"/>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576072"/>
            <a:ext cx="4949825" cy="3413126"/>
          </a:xfrm>
        </p:spPr>
        <p:txBody>
          <a:bodyPr rIns="0"/>
          <a:lstStyle>
            <a:lvl1pPr>
              <a:lnSpc>
                <a:spcPct val="110000"/>
              </a:lnSpc>
              <a:defRPr sz="3600">
                <a:solidFill>
                  <a:schemeClr val="tx2"/>
                </a:solidFill>
              </a:defRPr>
            </a:lvl1pPr>
          </a:lstStyle>
          <a:p>
            <a:r>
              <a:rPr lang="en-GB" dirty="0"/>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6096000" y="6083300"/>
            <a:ext cx="0" cy="61118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171212167"/>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46904"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70675" y="3041649"/>
            <a:ext cx="4951413"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76073"/>
            <a:ext cx="11041253" cy="12571602"/>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224836230"/>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dirty="0"/>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830154425"/>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71500"/>
            <a:ext cx="17137063" cy="12579350"/>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2327768506"/>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066270910"/>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77850" y="571500"/>
            <a:ext cx="23226713" cy="1257934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7694905"/>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576000" y="3044825"/>
            <a:ext cx="2462402" cy="2476500"/>
          </a:xfrm>
          <a:solidFill>
            <a:srgbClr val="E0E0E0"/>
          </a:solidFill>
        </p:spPr>
        <p:txBody>
          <a:bodyPr anchor="ctr"/>
          <a:lstStyle>
            <a:lvl1pPr algn="ctr">
              <a:defRPr>
                <a:solidFill>
                  <a:schemeClr val="accent5"/>
                </a:solidFill>
              </a:defRPr>
            </a:lvl1pPr>
          </a:lstStyle>
          <a:p>
            <a:r>
              <a:rPr lang="en-US" dirty="0"/>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576000" y="6096000"/>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576000" y="9140825"/>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12780000" y="3044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12780000" y="6096000"/>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12780000" y="9140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dirty="0"/>
              <a:t>Click to edit Master title style</a:t>
            </a:r>
            <a:endParaRPr lang="en-US" dirty="0"/>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36719277"/>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3"/>
            <a:ext cx="4949825" cy="3995928"/>
          </a:xfrm>
        </p:spPr>
        <p:txBody>
          <a:bodyPr/>
          <a:lstStyle>
            <a:lvl1pPr>
              <a:lnSpc>
                <a:spcPct val="110000"/>
              </a:lnSpc>
              <a:defRPr sz="2800">
                <a:solidFill>
                  <a:schemeClr val="tx2"/>
                </a:solidFill>
              </a:defRPr>
            </a:lvl1pPr>
          </a:lstStyle>
          <a:p>
            <a:r>
              <a:rPr lang="en-GB" dirty="0"/>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76000"/>
            <a:ext cx="17145000" cy="11623675"/>
          </a:xfrm>
        </p:spPr>
        <p:txBody>
          <a:bodyPr anchor="ctr"/>
          <a:lstStyle>
            <a:lvl1pPr algn="ctr">
              <a:defRPr>
                <a:solidFill>
                  <a:schemeClr val="tx1"/>
                </a:solidFill>
              </a:defRPr>
            </a:lvl1pPr>
          </a:lstStyle>
          <a:p>
            <a:r>
              <a:rPr lang="en-GB" dirty="0"/>
              <a:t>Click icon to add table</a:t>
            </a:r>
            <a:endParaRPr lang="en-US" dirty="0"/>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8229029"/>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1527049"/>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6667500" y="12782487"/>
            <a:ext cx="5524500" cy="425450"/>
          </a:xfrm>
        </p:spPr>
        <p:txBody>
          <a:bodyPr anchor="b" anchorCtr="0"/>
          <a:lstStyle>
            <a:lvl1pPr>
              <a:defRPr sz="1600">
                <a:latin typeface="IBM Plex Sans" panose="020B0503050203000203" pitchFamily="34" charset="0"/>
              </a:defRPr>
            </a:lvl1pPr>
            <a:lvl2pPr>
              <a:defRPr sz="1600"/>
            </a:lvl2pPr>
            <a:lvl3pPr>
              <a:defRPr sz="1600"/>
            </a:lvl3pPr>
            <a:lvl4pPr>
              <a:defRPr sz="1600"/>
            </a:lvl4pPr>
            <a:lvl5pPr>
              <a:defRPr sz="1600"/>
            </a:lvl5pPr>
          </a:lstStyle>
          <a:p>
            <a:pPr lvl="0"/>
            <a:r>
              <a:rPr lang="en-US" dirty="0"/>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576000" y="3044825"/>
            <a:ext cx="4943475" cy="9150350"/>
          </a:xfrm>
        </p:spPr>
        <p:txBody>
          <a:bodyPr/>
          <a:lstStyle>
            <a:lvl1pPr>
              <a:defRPr sz="2800">
                <a:latin typeface="+mj-lt"/>
              </a:defRPr>
            </a:lvl1pPr>
            <a:lvl2pPr>
              <a:defRPr sz="2800">
                <a:latin typeface="+mj-lt"/>
              </a:defRPr>
            </a:lvl2pPr>
            <a:lvl3pPr>
              <a:defRPr sz="2800">
                <a:latin typeface="+mj-lt"/>
              </a:defRPr>
            </a:lvl3pPr>
            <a:lvl4pPr>
              <a:defRPr sz="2800">
                <a:latin typeface="+mj-lt"/>
              </a:defRPr>
            </a:lvl4pPr>
            <a:lvl5pPr>
              <a:defRPr sz="2800">
                <a:latin typeface="+mj-lt"/>
              </a:defRPr>
            </a:lvl5pPr>
          </a:lstStyle>
          <a:p>
            <a:pPr>
              <a:lnSpc>
                <a:spcPct val="110000"/>
              </a:lnSpc>
            </a:pPr>
            <a:r>
              <a:rPr lang="en-US" sz="2800" dirty="0">
                <a:latin typeface="IBM Plex Sans Light" panose="020B0403050203000203" pitchFamily="34" charset="0"/>
              </a:rPr>
              <a:t>Lorem ipsum dolor sit </a:t>
            </a:r>
            <a:r>
              <a:rPr lang="en-US" sz="2800" dirty="0" err="1">
                <a:latin typeface="IBM Plex Sans Light" panose="020B0403050203000203" pitchFamily="34" charset="0"/>
              </a:rPr>
              <a:t>amet</a:t>
            </a:r>
            <a:r>
              <a:rPr lang="en-US" sz="2800" dirty="0">
                <a:latin typeface="IBM Plex Sans Light" panose="020B0403050203000203" pitchFamily="34" charset="0"/>
              </a:rPr>
              <a:t> </a:t>
            </a:r>
            <a:r>
              <a:rPr lang="en-US" sz="2800" dirty="0" err="1">
                <a:latin typeface="IBM Plex Sans Light" panose="020B0403050203000203" pitchFamily="34" charset="0"/>
              </a:rPr>
              <a:t>donec</a:t>
            </a:r>
            <a:r>
              <a:rPr lang="en-US" sz="2800" dirty="0">
                <a:latin typeface="IBM Plex Sans Light" panose="020B0403050203000203" pitchFamily="34" charset="0"/>
              </a:rPr>
              <a:t> </a:t>
            </a:r>
            <a:r>
              <a:rPr lang="en-US" sz="2800" dirty="0" err="1">
                <a:latin typeface="IBM Plex Sans Light" panose="020B0403050203000203" pitchFamily="34" charset="0"/>
              </a:rPr>
              <a:t>quam</a:t>
            </a:r>
            <a:r>
              <a:rPr lang="en-US" sz="2800" dirty="0">
                <a:latin typeface="IBM Plex Sans Light" panose="020B0403050203000203" pitchFamily="34" charset="0"/>
              </a:rPr>
              <a:t> </a:t>
            </a:r>
            <a:r>
              <a:rPr lang="en-US" sz="2800" dirty="0" err="1">
                <a:latin typeface="IBM Plex Sans Light" panose="020B0403050203000203" pitchFamily="34" charset="0"/>
              </a:rPr>
              <a:t>felis</a:t>
            </a:r>
            <a:r>
              <a:rPr lang="en-US" sz="2800" dirty="0">
                <a:latin typeface="IBM Plex Sans Light" panose="020B0403050203000203" pitchFamily="34" charset="0"/>
              </a:rPr>
              <a:t> </a:t>
            </a:r>
            <a:r>
              <a:rPr lang="en-US" sz="2800" dirty="0" err="1">
                <a:latin typeface="IBM Plex Sans Light" panose="020B0403050203000203" pitchFamily="34" charset="0"/>
              </a:rPr>
              <a:t>ultricies</a:t>
            </a:r>
            <a:r>
              <a:rPr lang="en-US" sz="2800" dirty="0">
                <a:latin typeface="IBM Plex Sans Light" panose="020B0403050203000203" pitchFamily="34" charset="0"/>
              </a:rPr>
              <a:t> </a:t>
            </a:r>
            <a:r>
              <a:rPr lang="en-US" sz="2800" dirty="0" err="1">
                <a:latin typeface="IBM Plex Sans Light" panose="020B0403050203000203" pitchFamily="34" charset="0"/>
              </a:rPr>
              <a:t>nec</a:t>
            </a:r>
            <a:r>
              <a:rPr lang="en-US" sz="2800" dirty="0">
                <a:latin typeface="IBM Plex Sans Light" panose="020B0403050203000203" pitchFamily="34" charset="0"/>
              </a:rPr>
              <a:t> </a:t>
            </a:r>
            <a:r>
              <a:rPr lang="en-US" sz="2800" dirty="0" err="1">
                <a:latin typeface="IBM Plex Sans Light" panose="020B0403050203000203" pitchFamily="34" charset="0"/>
              </a:rPr>
              <a:t>pellentesque</a:t>
            </a:r>
            <a:r>
              <a:rPr lang="en-US" sz="2800" dirty="0">
                <a:latin typeface="IBM Plex Sans Light" panose="020B0403050203000203" pitchFamily="34" charset="0"/>
              </a:rPr>
              <a:t> </a:t>
            </a:r>
            <a:r>
              <a:rPr lang="en-US" sz="2800" dirty="0" err="1">
                <a:latin typeface="IBM Plex Sans Light" panose="020B0403050203000203" pitchFamily="34" charset="0"/>
              </a:rPr>
              <a:t>eu</a:t>
            </a:r>
            <a:r>
              <a:rPr lang="en-US" sz="2800" dirty="0">
                <a:latin typeface="IBM Plex Sans Light" panose="020B0403050203000203" pitchFamily="34" charset="0"/>
              </a:rPr>
              <a:t> </a:t>
            </a:r>
            <a:r>
              <a:rPr lang="en-US" sz="2800" dirty="0" err="1">
                <a:latin typeface="IBM Plex Sans Light" panose="020B0403050203000203" pitchFamily="34" charset="0"/>
              </a:rPr>
              <a:t>pretium</a:t>
            </a:r>
            <a:r>
              <a:rPr lang="en-US" sz="2800" dirty="0">
                <a:latin typeface="IBM Plex Sans Light" panose="020B0403050203000203" pitchFamily="34" charset="0"/>
              </a:rPr>
              <a:t> </a:t>
            </a:r>
            <a:r>
              <a:rPr lang="en-US" sz="2800" dirty="0" err="1">
                <a:latin typeface="IBM Plex Sans Light" panose="020B0403050203000203" pitchFamily="34" charset="0"/>
              </a:rPr>
              <a:t>quis</a:t>
            </a:r>
            <a:r>
              <a:rPr lang="en-US" sz="2800" dirty="0">
                <a:latin typeface="IBM Plex Sans Light" panose="020B0403050203000203" pitchFamily="34" charset="0"/>
              </a:rPr>
              <a:t> sem. </a:t>
            </a:r>
            <a:r>
              <a:rPr lang="en-US" sz="2800" dirty="0" err="1">
                <a:latin typeface="IBM Plex Sans Light" panose="020B0403050203000203" pitchFamily="34" charset="0"/>
              </a:rPr>
              <a:t>Nulla</a:t>
            </a:r>
            <a:r>
              <a:rPr lang="en-US" sz="2800" dirty="0">
                <a:latin typeface="IBM Plex Sans Light" panose="020B0403050203000203" pitchFamily="34" charset="0"/>
              </a:rPr>
              <a:t> </a:t>
            </a:r>
            <a:r>
              <a:rPr lang="en-US" sz="2800" dirty="0" err="1">
                <a:latin typeface="IBM Plex Sans Light" panose="020B0403050203000203" pitchFamily="34" charset="0"/>
              </a:rPr>
              <a:t>conset</a:t>
            </a:r>
            <a:r>
              <a:rPr lang="en-US" sz="2800" dirty="0">
                <a:latin typeface="IBM Plex Sans Light" panose="020B0403050203000203" pitchFamily="34" charset="0"/>
              </a:rPr>
              <a:t> </a:t>
            </a:r>
            <a:r>
              <a:rPr lang="en-US" sz="2800" dirty="0" err="1">
                <a:latin typeface="IBM Plex Sans Light" panose="020B0403050203000203" pitchFamily="34" charset="0"/>
              </a:rPr>
              <a:t>massa</a:t>
            </a:r>
            <a:r>
              <a:rPr lang="en-US" sz="2800" dirty="0">
                <a:latin typeface="IBM Plex Sans Light" panose="020B0403050203000203" pitchFamily="34" charset="0"/>
              </a:rPr>
              <a:t> </a:t>
            </a:r>
            <a:r>
              <a:rPr lang="en-US" sz="2800" dirty="0" err="1">
                <a:latin typeface="IBM Plex Sans Light" panose="020B0403050203000203" pitchFamily="34" charset="0"/>
              </a:rPr>
              <a:t>quis</a:t>
            </a:r>
            <a:r>
              <a:rPr lang="en-US" sz="2800" dirty="0">
                <a:latin typeface="IBM Plex Sans Light" panose="020B0403050203000203" pitchFamily="34" charset="0"/>
              </a:rPr>
              <a:t> </a:t>
            </a:r>
            <a:r>
              <a:rPr lang="en-US" sz="2800" dirty="0" err="1">
                <a:latin typeface="IBM Plex Sans Light" panose="020B0403050203000203" pitchFamily="34" charset="0"/>
              </a:rPr>
              <a:t>enim</a:t>
            </a:r>
            <a:r>
              <a:rPr lang="en-US" sz="2800" dirty="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264910353"/>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GB"/>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62675"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76000" y="12816000"/>
            <a:ext cx="4956176" cy="381000"/>
          </a:xfrm>
        </p:spPr>
        <p:txBody>
          <a:bodyPr/>
          <a:lstStyle/>
          <a:p>
            <a:endParaRPr lang="en-US" dirty="0"/>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86187956"/>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GB" dirty="0"/>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800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196161"/>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09605039"/>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GB" dirty="0"/>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81719226"/>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4195384914"/>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517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576072" y="576072"/>
            <a:ext cx="22590125" cy="24687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Title Text</a:t>
            </a:r>
          </a:p>
        </p:txBody>
      </p:sp>
      <p:sp>
        <p:nvSpPr>
          <p:cNvPr id="49" name="Body Level One…"/>
          <p:cNvSpPr txBox="1">
            <a:spLocks noGrp="1"/>
          </p:cNvSpPr>
          <p:nvPr>
            <p:ph type="body" idx="1"/>
          </p:nvPr>
        </p:nvSpPr>
        <p:spPr>
          <a:xfrm>
            <a:off x="574675" y="3327399"/>
            <a:ext cx="22590125" cy="88677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76000" y="1282328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dirty="0"/>
              <a:t>Footer text (optional)</a:t>
            </a:r>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04" r:id="rId3"/>
    <p:sldLayoutId id="2147483905" r:id="rId4"/>
    <p:sldLayoutId id="2147483901" r:id="rId5"/>
    <p:sldLayoutId id="2147483692" r:id="rId6"/>
    <p:sldLayoutId id="2147483906" r:id="rId7"/>
    <p:sldLayoutId id="2147483907" r:id="rId8"/>
    <p:sldLayoutId id="2147483910" r:id="rId9"/>
    <p:sldLayoutId id="2147483908" r:id="rId10"/>
    <p:sldLayoutId id="2147483909" r:id="rId11"/>
    <p:sldLayoutId id="2147483912" r:id="rId12"/>
    <p:sldLayoutId id="2147483914" r:id="rId13"/>
    <p:sldLayoutId id="2147483915" r:id="rId14"/>
    <p:sldLayoutId id="2147483913" r:id="rId15"/>
    <p:sldLayoutId id="2147483917" r:id="rId16"/>
    <p:sldLayoutId id="2147483942" r:id="rId17"/>
    <p:sldLayoutId id="2147483919" r:id="rId18"/>
    <p:sldLayoutId id="2147483929" r:id="rId19"/>
    <p:sldLayoutId id="2147483920" r:id="rId20"/>
    <p:sldLayoutId id="2147483930" r:id="rId21"/>
    <p:sldLayoutId id="2147483928" r:id="rId22"/>
    <p:sldLayoutId id="2147483948" r:id="rId23"/>
    <p:sldLayoutId id="2147483927" r:id="rId24"/>
    <p:sldLayoutId id="2147483950" r:id="rId25"/>
    <p:sldLayoutId id="2147483921" r:id="rId26"/>
    <p:sldLayoutId id="2147483916" r:id="rId27"/>
    <p:sldLayoutId id="2147483922" r:id="rId28"/>
    <p:sldLayoutId id="2147483965" r:id="rId29"/>
    <p:sldLayoutId id="2147483956" r:id="rId30"/>
    <p:sldLayoutId id="2147483923" r:id="rId31"/>
    <p:sldLayoutId id="2147483924" r:id="rId32"/>
    <p:sldLayoutId id="2147483926" r:id="rId33"/>
    <p:sldLayoutId id="2147483925" r:id="rId34"/>
    <p:sldLayoutId id="2147483959" r:id="rId35"/>
    <p:sldLayoutId id="2147483937" r:id="rId36"/>
    <p:sldLayoutId id="2147483932" r:id="rId37"/>
    <p:sldLayoutId id="2147483934" r:id="rId38"/>
    <p:sldLayoutId id="2147483935" r:id="rId39"/>
    <p:sldLayoutId id="2147483936" r:id="rId40"/>
    <p:sldLayoutId id="2147483938" r:id="rId41"/>
    <p:sldLayoutId id="2147483939" r:id="rId42"/>
    <p:sldLayoutId id="2147483964" r:id="rId43"/>
    <p:sldLayoutId id="2147483940" r:id="rId44"/>
    <p:sldLayoutId id="2147483960" r:id="rId45"/>
    <p:sldLayoutId id="2147483943" r:id="rId46"/>
    <p:sldLayoutId id="2147483963" r:id="rId47"/>
    <p:sldLayoutId id="2147483941" r:id="rId48"/>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userDrawn="1">
          <p15:clr>
            <a:srgbClr val="EE5396"/>
          </p15:clr>
        </p15:guide>
        <p15:guide id="20" orient="horz" pos="958" userDrawn="1">
          <p15:clr>
            <a:srgbClr val="EE5396"/>
          </p15:clr>
        </p15:guide>
        <p15:guide id="25" orient="horz" pos="7682" userDrawn="1">
          <p15:clr>
            <a:srgbClr val="EE5396"/>
          </p15:clr>
        </p15:guide>
        <p15:guide id="26" pos="7680">
          <p15:clr>
            <a:srgbClr val="0F62FE"/>
          </p15:clr>
        </p15:guide>
        <p15:guide id="27" pos="11520">
          <p15:clr>
            <a:srgbClr val="0F62FE"/>
          </p15:clr>
        </p15:guide>
        <p15:guide id="30" orient="horz" pos="1918" userDrawn="1">
          <p15:clr>
            <a:srgbClr val="EE5396"/>
          </p15:clr>
        </p15:guide>
        <p15:guide id="32" orient="horz" pos="6720" userDrawn="1">
          <p15:clr>
            <a:srgbClr val="EE5396"/>
          </p15:clr>
        </p15:guide>
        <p15:guide id="33" orient="horz" pos="2880" userDrawn="1">
          <p15:clr>
            <a:srgbClr val="EE5396"/>
          </p15:clr>
        </p15:guide>
        <p15:guide id="34" orient="horz" pos="4800" userDrawn="1">
          <p15:clr>
            <a:srgbClr val="EE5396"/>
          </p15:clr>
        </p15:guide>
        <p15:guide id="35" orient="horz" pos="5758" userDrawn="1">
          <p15:clr>
            <a:srgbClr val="EE5396"/>
          </p15:clr>
        </p15:guide>
        <p15:guide id="36" orient="horz" pos="8284" userDrawn="1">
          <p15:clr>
            <a:srgbClr val="9FCC3B"/>
          </p15:clr>
        </p15:guide>
        <p15:guide id="37" orient="horz" pos="360"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email.address@ibm.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image">
            <a:extLst>
              <a:ext uri="{FF2B5EF4-FFF2-40B4-BE49-F238E27FC236}">
                <a16:creationId xmlns:a16="http://schemas.microsoft.com/office/drawing/2014/main" id="{A7F61FB0-2071-7687-9125-270D4C402827}"/>
              </a:ext>
            </a:extLst>
          </p:cNvPr>
          <p:cNvSpPr>
            <a:spLocks noGrp="1"/>
          </p:cNvSpPr>
          <p:nvPr>
            <p:ph type="pic" sz="quarter" idx="11"/>
          </p:nvPr>
        </p:nvSpPr>
        <p:spPr/>
        <p:txBody>
          <a:bodyPr/>
          <a:lstStyle/>
          <a:p>
            <a:r>
              <a:t/>
            </a:r>
            <a:endParaRPr lang="en-US" dirty="0"/>
          </a:p>
        </p:txBody>
      </p:sp>
      <p:sp>
        <p:nvSpPr>
          <p:cNvPr id="4" name="name_and_job_title">
            <a:extLst>
              <a:ext uri="{FF2B5EF4-FFF2-40B4-BE49-F238E27FC236}">
                <a16:creationId xmlns:a16="http://schemas.microsoft.com/office/drawing/2014/main" id="{66C6E6D6-034D-0B86-21EF-331BBC8ACF0B}"/>
              </a:ext>
            </a:extLst>
          </p:cNvPr>
          <p:cNvSpPr>
            <a:spLocks noGrp="1"/>
          </p:cNvSpPr>
          <p:nvPr>
            <p:ph type="body" sz="quarter" idx="12"/>
          </p:nvPr>
        </p:nvSpPr>
        <p:spPr>
          <a:xfrm>
            <a:off x="576000" y="12166599"/>
            <a:ext cx="4942455" cy="1074293"/>
          </a:xfrm>
        </p:spPr>
        <p:txBody>
          <a:bodyPr/>
          <a:lstStyle/>
          <a:p>
            <a:r>
              <a:rPr lang="en-US" dirty="0"/>
              <a:t>Mridusmita Nath, UX Researcher / Ankit</a:t>
            </a:r>
            <a:br>
              <a:rPr lang="en-US" dirty="0"/>
            </a:br>
            <a:r>
              <a:rPr lang="en-US" dirty="0"/>
              <a:t/>
            </a:r>
          </a:p>
        </p:txBody>
      </p:sp>
      <p:sp>
        <p:nvSpPr>
          <p:cNvPr id="5" name="contact_details">
            <a:extLst>
              <a:ext uri="{FF2B5EF4-FFF2-40B4-BE49-F238E27FC236}">
                <a16:creationId xmlns:a16="http://schemas.microsoft.com/office/drawing/2014/main" id="{2C8B0768-851E-E6C9-CC65-4B5EC23E1AEF}"/>
              </a:ext>
            </a:extLst>
          </p:cNvPr>
          <p:cNvSpPr>
            <a:spLocks noGrp="1"/>
          </p:cNvSpPr>
          <p:nvPr>
            <p:ph type="body" sz="quarter" idx="13"/>
          </p:nvPr>
        </p:nvSpPr>
        <p:spPr>
          <a:xfrm>
            <a:off x="6671501" y="12166600"/>
            <a:ext cx="4947412" cy="1077014"/>
          </a:xfrm>
        </p:spPr>
        <p:txBody>
          <a:bodyPr/>
          <a:lstStyle/>
          <a:p>
            <a:r>
              <a:rPr lang="en-US" dirty="0">
                <a:hlinkClick r:id="rId3"/>
              </a:rPr>
              <a:t>August 2026 | IBM webMethods</a:t>
            </a:r>
            <a:endParaRPr lang="en-US" dirty="0"/>
          </a:p>
        </p:txBody>
      </p:sp>
      <p:sp>
        <p:nvSpPr>
          <p:cNvPr id="3" name="title">
            <a:extLst>
              <a:ext uri="{FF2B5EF4-FFF2-40B4-BE49-F238E27FC236}">
                <a16:creationId xmlns:a16="http://schemas.microsoft.com/office/drawing/2014/main" id="{02126D7B-9102-E21E-2B99-B968818162B8}"/>
              </a:ext>
            </a:extLst>
          </p:cNvPr>
          <p:cNvSpPr>
            <a:spLocks noGrp="1"/>
          </p:cNvSpPr>
          <p:nvPr>
            <p:ph type="title"/>
          </p:nvPr>
        </p:nvSpPr>
        <p:spPr>
          <a:xfrm>
            <a:off x="575999" y="311151"/>
            <a:ext cx="11042913" cy="7308850"/>
          </a:xfrm>
        </p:spPr>
        <p:txBody>
          <a:bodyPr/>
          <a:lstStyle/>
          <a:p>
            <a:r>
              <a:rPr lang="en-US" dirty="0"/>
              <a:t>UX Reviewer — discovery findings</a:t>
            </a:r>
            <a:br>
              <a:rPr lang="en-US" dirty="0"/>
            </a:br>
            <a:r>
              <a:rPr lang="en-US" dirty="0"/>
              <a:t/>
            </a:r>
            <a:br>
              <a:rPr lang="en-US" dirty="0"/>
            </a:br>
            <a:r>
              <a:rPr lang="en-US" dirty="0"/>
              <a:t/>
            </a:r>
          </a:p>
        </p:txBody>
      </p:sp>
    </p:spTree>
    <p:extLst>
      <p:ext uri="{BB962C8B-B14F-4D97-AF65-F5344CB8AC3E}">
        <p14:creationId xmlns:p14="http://schemas.microsoft.com/office/powerpoint/2010/main" val="386839039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EB65E13-A1C4-870D-0BC6-EF956A1B5248}"/>
              </a:ext>
            </a:extLst>
          </p:cNvPr>
          <p:cNvSpPr>
            <a:spLocks noGrp="1"/>
          </p:cNvSpPr>
          <p:nvPr>
            <p:ph type="title"/>
          </p:nvPr>
        </p:nvSpPr>
        <p:spPr>
          <a:xfrm>
            <a:off x="576000" y="384048"/>
            <a:ext cx="11044500" cy="1136777"/>
          </a:xfrm>
        </p:spPr>
        <p:txBody>
          <a:bodyPr/>
          <a:lstStyle/>
          <a:p>
            <a:r>
              <a:rPr lang="en-US" dirty="0"/>
              <a:t>Agenda</a:t>
            </a:r>
          </a:p>
        </p:txBody>
      </p:sp>
      <p:sp>
        <p:nvSpPr>
          <p:cNvPr id="3" name="table_of_contents_01">
            <a:extLst>
              <a:ext uri="{FF2B5EF4-FFF2-40B4-BE49-F238E27FC236}">
                <a16:creationId xmlns:a16="http://schemas.microsoft.com/office/drawing/2014/main" id="{3223E9DC-42EB-0711-A23D-16E628202AD7}"/>
              </a:ext>
            </a:extLst>
          </p:cNvPr>
          <p:cNvSpPr>
            <a:spLocks noGrp="1"/>
          </p:cNvSpPr>
          <p:nvPr>
            <p:ph type="body" sz="quarter" idx="10"/>
          </p:nvPr>
        </p:nvSpPr>
        <p:spPr/>
        <p:txBody>
          <a:bodyPr/>
          <a:lstStyle/>
          <a:p>
            <a:r>
              <a:rPr lang="en-US" dirty="0">
                <a:latin typeface="IBM Plex Sans Medm" panose="020B0503050203000203" pitchFamily="34" charset="0"/>
              </a:rPr>
              <a:t>The problem</a:t>
            </a:r>
          </a:p>
          <a:p>
            <a:r>
              <a:rPr lang="en-US" dirty="0"/>
              <a:t>Research findings</a:t>
            </a:r>
          </a:p>
          <a:p>
            <a:r>
              <a:rPr lang="en-US" dirty="0"/>
              <a:t>Market landscape</a:t>
            </a:r>
          </a:p>
        </p:txBody>
      </p:sp>
      <p:sp>
        <p:nvSpPr>
          <p:cNvPr id="4" name="table_of_contents_02">
            <a:extLst>
              <a:ext uri="{FF2B5EF4-FFF2-40B4-BE49-F238E27FC236}">
                <a16:creationId xmlns:a16="http://schemas.microsoft.com/office/drawing/2014/main" id="{41FBBD1B-4D3E-88E3-6FA8-28CEFCA0F6C7}"/>
              </a:ext>
            </a:extLst>
          </p:cNvPr>
          <p:cNvSpPr>
            <a:spLocks noGrp="1"/>
          </p:cNvSpPr>
          <p:nvPr>
            <p:ph type="body" sz="quarter" idx="11"/>
          </p:nvPr>
        </p:nvSpPr>
        <p:spPr/>
        <p:txBody>
          <a:bodyPr/>
          <a:lstStyle/>
          <a:p>
            <a:r>
              <a:rPr lang="en-US" dirty="0">
                <a:latin typeface="IBM Plex Sans Medm" panose="020B0503050203000203" pitchFamily="34" charset="0"/>
              </a:rPr>
              <a:t>The solution</a:t>
            </a:r>
          </a:p>
          <a:p>
            <a:r>
              <a:rPr lang="en-US" dirty="0"/>
              <a:t>The IBM experience</a:t>
            </a:r>
          </a:p>
          <a:p>
            <a:r>
              <a:rPr lang="en-US" dirty="0"/>
              <a:t>Next steps</a:t>
            </a:r>
          </a:p>
        </p:txBody>
      </p:sp>
      <p:sp>
        <p:nvSpPr>
          <p:cNvPr id="9" name="slide_number">
            <a:extLst>
              <a:ext uri="{FF2B5EF4-FFF2-40B4-BE49-F238E27FC236}">
                <a16:creationId xmlns:a16="http://schemas.microsoft.com/office/drawing/2014/main" id="{1DD66032-74A7-5C7F-B556-9CFDA5E820D2}"/>
              </a:ext>
            </a:extLst>
          </p:cNvPr>
          <p:cNvSpPr>
            <a:spLocks noGrp="1" noRot="1" noMove="1" noResize="1" noEditPoints="1" noAdjustHandles="1" noChangeArrowheads="1" noChangeShapeType="1"/>
          </p:cNvSpPr>
          <p:nvPr>
            <p:ph type="sldNum" sz="quarter" idx="4"/>
          </p:nvPr>
        </p:nvSpPr>
        <p:spPr/>
        <p:txBody>
          <a:bodyPr/>
          <a:lstStyle>
            <a:lvl1pPr>
              <a:defRPr>
                <a:solidFill>
                  <a:schemeClr val="tx1"/>
                </a:solidFill>
              </a:defRPr>
            </a:lvl1pPr>
          </a:lstStyle>
          <a:p>
            <a:fld id="{59395FB3-9C97-154F-86B2-7E381B951268}" type="slidenum">
              <a:rPr lang="en-US" smtClean="0"/>
              <a:pPr/>
              <a:t>5</a:t>
            </a:fld>
            <a:r>
              <a:t/>
            </a:r>
            <a:endParaRPr lang="en-US" dirty="0"/>
          </a:p>
        </p:txBody>
      </p:sp>
      <p:sp>
        <p:nvSpPr>
          <p:cNvPr id="6" name="footer">
            <a:extLst>
              <a:ext uri="{FF2B5EF4-FFF2-40B4-BE49-F238E27FC236}">
                <a16:creationId xmlns:a16="http://schemas.microsoft.com/office/drawing/2014/main" id="{2D8B9559-937A-ACD0-49EB-C02FFDF9D6E7}"/>
              </a:ext>
            </a:extLst>
          </p:cNvPr>
          <p:cNvSpPr>
            <a:spLocks noGrp="1"/>
          </p:cNvSpPr>
          <p:nvPr>
            <p:ph type="ftr" sz="quarter" idx="18"/>
          </p:nvPr>
        </p:nvSpPr>
        <p:spPr>
          <a:xfrm>
            <a:off x="576000" y="12816000"/>
            <a:ext cx="4956176" cy="381000"/>
          </a:xfrm>
        </p:spPr>
        <p:txBody>
          <a:bodyPr/>
          <a:lstStyle/>
          <a:p>
            <a:r>
              <a:t>IBM Confidential</a:t>
            </a:r>
            <a:endParaRPr lang="en-US" dirty="0"/>
          </a:p>
        </p:txBody>
      </p:sp>
    </p:spTree>
    <p:extLst>
      <p:ext uri="{BB962C8B-B14F-4D97-AF65-F5344CB8AC3E}">
        <p14:creationId xmlns:p14="http://schemas.microsoft.com/office/powerpoint/2010/main" val="348915682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8555A89-31D3-C769-71AD-38E9ADC2B454}"/>
              </a:ext>
            </a:extLst>
          </p:cNvPr>
          <p:cNvSpPr>
            <a:spLocks noGrp="1"/>
          </p:cNvSpPr>
          <p:nvPr>
            <p:ph type="title"/>
          </p:nvPr>
        </p:nvSpPr>
        <p:spPr>
          <a:xfrm>
            <a:off x="576000" y="384048"/>
            <a:ext cx="11042913" cy="2663825"/>
          </a:xfrm>
        </p:spPr>
        <p:txBody>
          <a:bodyPr/>
          <a:lstStyle/>
          <a:p>
            <a:r>
              <a:rPr lang="en-US" dirty="0"/>
              <a:t>01  The problem</a:t>
            </a:r>
            <a:br>
              <a:rPr lang="en-US" dirty="0"/>
            </a:br>
            <a:r>
              <a:rPr lang="en-US" dirty="0"/>
              <a:t/>
            </a:r>
          </a:p>
        </p:txBody>
      </p:sp>
      <p:sp>
        <p:nvSpPr>
          <p:cNvPr id="9" name="slide_number">
            <a:extLst>
              <a:ext uri="{FF2B5EF4-FFF2-40B4-BE49-F238E27FC236}">
                <a16:creationId xmlns:a16="http://schemas.microsoft.com/office/drawing/2014/main" id="{41794889-6D85-5EF1-D228-19EEF3359F33}"/>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lvl1pPr>
              <a:defRPr>
                <a:solidFill>
                  <a:schemeClr val="tx1"/>
                </a:solidFill>
              </a:defRPr>
            </a:lvl1pPr>
          </a:lstStyle>
          <a:p>
            <a:fld id="{59395FB3-9C97-154F-86B2-7E381B951268}" type="slidenum">
              <a:rPr lang="en-US" smtClean="0"/>
              <a:pPr/>
              <a:t>6</a:t>
            </a:fld>
            <a:r>
              <a:t/>
            </a:r>
            <a:endParaRPr lang="en-US" dirty="0"/>
          </a:p>
        </p:txBody>
      </p:sp>
      <p:sp>
        <p:nvSpPr>
          <p:cNvPr id="4" name="footer">
            <a:extLst>
              <a:ext uri="{FF2B5EF4-FFF2-40B4-BE49-F238E27FC236}">
                <a16:creationId xmlns:a16="http://schemas.microsoft.com/office/drawing/2014/main" id="{758058FD-55FE-14C2-54F7-4C716F103C00}"/>
              </a:ext>
            </a:extLst>
          </p:cNvPr>
          <p:cNvSpPr>
            <a:spLocks noGrp="1"/>
          </p:cNvSpPr>
          <p:nvPr>
            <p:ph type="ftr" sz="quarter" idx="18"/>
          </p:nvPr>
        </p:nvSpPr>
        <p:spPr>
          <a:xfrm>
            <a:off x="576000" y="12816000"/>
            <a:ext cx="4956176" cy="381000"/>
          </a:xfrm>
        </p:spPr>
        <p:txBody>
          <a:bodyPr/>
          <a:lstStyle/>
          <a:p>
            <a:r>
              <a:t>IBM Confidential</a:t>
            </a:r>
            <a:endParaRPr lang="en-US" dirty="0"/>
          </a:p>
        </p:txBody>
      </p:sp>
    </p:spTree>
    <p:extLst>
      <p:ext uri="{BB962C8B-B14F-4D97-AF65-F5344CB8AC3E}">
        <p14:creationId xmlns:p14="http://schemas.microsoft.com/office/powerpoint/2010/main" val="248481365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g_statement">
            <a:extLst>
              <a:ext uri="{FF2B5EF4-FFF2-40B4-BE49-F238E27FC236}">
                <a16:creationId xmlns:a16="http://schemas.microsoft.com/office/drawing/2014/main" id="{180FC785-4B73-1374-CE3A-190BCF867813}"/>
              </a:ext>
            </a:extLst>
          </p:cNvPr>
          <p:cNvSpPr>
            <a:spLocks noGrp="1"/>
          </p:cNvSpPr>
          <p:nvPr>
            <p:ph type="title"/>
          </p:nvPr>
        </p:nvSpPr>
        <p:spPr>
          <a:xfrm>
            <a:off x="576000" y="309599"/>
            <a:ext cx="20760000" cy="11885575"/>
          </a:xfrm>
        </p:spPr>
        <p:txBody>
          <a:bodyPr/>
          <a:lstStyle/>
          <a:p>
            <a:r>
              <a:rPr lang="en-US" dirty="0"/>
              <a:t>IBM teams ship non-Carbon UI every day — and no one can</a:t>
            </a:r>
            <a:br>
              <a:rPr lang="en-US" dirty="0"/>
            </a:br>
            <a:r>
              <a:rPr lang="en-US" dirty="0"/>
              <a:t/>
            </a:r>
            <a:br>
              <a:rPr lang="en-US" dirty="0"/>
            </a:br>
            <a:r>
              <a:rPr lang="en-US" dirty="0"/>
              <a:t/>
            </a:r>
          </a:p>
        </p:txBody>
      </p:sp>
      <p:sp>
        <p:nvSpPr>
          <p:cNvPr id="8" name="slide_number">
            <a:extLst>
              <a:ext uri="{FF2B5EF4-FFF2-40B4-BE49-F238E27FC236}">
                <a16:creationId xmlns:a16="http://schemas.microsoft.com/office/drawing/2014/main" id="{86C17C2C-13ED-63D8-33F8-B7F8FCF5F4BE}"/>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lvl1pPr>
              <a:defRPr>
                <a:solidFill>
                  <a:schemeClr val="tx1"/>
                </a:solidFill>
              </a:defRPr>
            </a:lvl1pPr>
          </a:lstStyle>
          <a:p>
            <a:fld id="{59395FB3-9C97-154F-86B2-7E381B951268}" type="slidenum">
              <a:rPr lang="en-US" smtClean="0"/>
              <a:pPr/>
              <a:t>7</a:t>
            </a:fld>
            <a:r>
              <a:t/>
            </a:r>
            <a:endParaRPr lang="en-US" dirty="0"/>
          </a:p>
        </p:txBody>
      </p:sp>
      <p:sp>
        <p:nvSpPr>
          <p:cNvPr id="11" name="footer">
            <a:extLst>
              <a:ext uri="{FF2B5EF4-FFF2-40B4-BE49-F238E27FC236}">
                <a16:creationId xmlns:a16="http://schemas.microsoft.com/office/drawing/2014/main" id="{21502530-8BEB-61F0-1909-E5D61BDB1985}"/>
              </a:ext>
            </a:extLst>
          </p:cNvPr>
          <p:cNvSpPr>
            <a:spLocks noGrp="1"/>
          </p:cNvSpPr>
          <p:nvPr>
            <p:ph type="ftr" sz="quarter" idx="18"/>
          </p:nvPr>
        </p:nvSpPr>
        <p:spPr>
          <a:xfrm>
            <a:off x="576000" y="12816000"/>
            <a:ext cx="4956176" cy="381000"/>
          </a:xfrm>
        </p:spPr>
        <p:txBody>
          <a:bodyPr/>
          <a:lstStyle/>
          <a:p>
            <a:r>
              <a:t>IBM Confidential</a:t>
            </a:r>
            <a:endParaRPr lang="en-US" dirty="0"/>
          </a:p>
        </p:txBody>
      </p:sp>
    </p:spTree>
    <p:extLst>
      <p:ext uri="{BB962C8B-B14F-4D97-AF65-F5344CB8AC3E}">
        <p14:creationId xmlns:p14="http://schemas.microsoft.com/office/powerpoint/2010/main" val="230575617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0D374C6-6622-EAD6-AF33-02B2061061A5}"/>
              </a:ext>
            </a:extLst>
          </p:cNvPr>
          <p:cNvSpPr>
            <a:spLocks noGrp="1"/>
          </p:cNvSpPr>
          <p:nvPr>
            <p:ph type="title"/>
          </p:nvPr>
        </p:nvSpPr>
        <p:spPr>
          <a:xfrm>
            <a:off x="576000" y="384048"/>
            <a:ext cx="9909175" cy="4184269"/>
          </a:xfrm>
        </p:spPr>
        <p:txBody>
          <a:bodyPr/>
          <a:lstStyle/>
          <a:p>
            <a:r>
              <a:rPr lang="en-US" dirty="0"/>
              <a:t>The token gap is invisible</a:t>
            </a:r>
            <a:br>
              <a:rPr lang="en-US" dirty="0"/>
            </a:br>
            <a:r>
              <a:rPr lang="en-US" dirty="0"/>
              <a:t/>
            </a:r>
            <a:br>
              <a:rPr lang="en-US" dirty="0"/>
            </a:br>
            <a:r>
              <a:rPr lang="en-US" dirty="0"/>
              <a:t/>
            </a:r>
          </a:p>
        </p:txBody>
      </p:sp>
      <p:sp>
        <p:nvSpPr>
          <p:cNvPr id="3" name="quote">
            <a:extLst>
              <a:ext uri="{FF2B5EF4-FFF2-40B4-BE49-F238E27FC236}">
                <a16:creationId xmlns:a16="http://schemas.microsoft.com/office/drawing/2014/main" id="{3AEA1201-23DA-79C3-771B-5D327E6B4A76}"/>
              </a:ext>
            </a:extLst>
          </p:cNvPr>
          <p:cNvSpPr>
            <a:spLocks noGrp="1"/>
          </p:cNvSpPr>
          <p:nvPr>
            <p:ph type="body" sz="quarter" idx="10"/>
          </p:nvPr>
        </p:nvSpPr>
        <p:spPr>
          <a:xfrm>
            <a:off x="12439759" y="384048"/>
            <a:ext cx="11042073" cy="7235952"/>
          </a:xfrm>
        </p:spPr>
        <p:txBody>
          <a:bodyPr/>
          <a:lstStyle/>
          <a:p>
            <a:pPr marL="381000" indent="-381000">
              <a:lnSpc>
                <a:spcPct val="100000"/>
              </a:lnSpc>
              <a:spcBef>
                <a:spcPts val="0"/>
              </a:spcBef>
            </a:pPr>
            <a:r>
              <a:rPr lang="en-US" dirty="0"/>
              <a:t>“If they are really using the Carbon component, are they really using the tokens? No one has any idea. So that gap is still there.”</a:t>
            </a:r>
            <a:r>
              <a:rPr lang="en-US" dirty="0">
                <a:solidFill>
                  <a:schemeClr val="tx1"/>
                </a:solidFill>
              </a:rPr>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endParaRPr lang="en-US" sz="2800" dirty="0"/>
          </a:p>
        </p:txBody>
      </p:sp>
      <p:sp>
        <p:nvSpPr>
          <p:cNvPr id="5" name="slide_number">
            <a:extLst>
              <a:ext uri="{FF2B5EF4-FFF2-40B4-BE49-F238E27FC236}">
                <a16:creationId xmlns:a16="http://schemas.microsoft.com/office/drawing/2014/main" id="{F99D30BA-A01D-314D-AAA5-0209F97AE92E}"/>
              </a:ext>
            </a:extLst>
          </p:cNvPr>
          <p:cNvSpPr>
            <a:spLocks noGrp="1"/>
          </p:cNvSpPr>
          <p:nvPr>
            <p:ph type="sldNum" sz="quarter" idx="4"/>
          </p:nvPr>
        </p:nvSpPr>
        <p:spPr>
          <a:xfrm>
            <a:off x="23541592" y="12951538"/>
            <a:ext cx="270908" cy="246221"/>
          </a:xfrm>
        </p:spPr>
        <p:txBody>
          <a:bodyPr/>
          <a:lstStyle>
            <a:lvl1pPr>
              <a:defRPr>
                <a:solidFill>
                  <a:schemeClr val="tx1"/>
                </a:solidFill>
              </a:defRPr>
            </a:lvl1pPr>
          </a:lstStyle>
          <a:p>
            <a:fld id="{59395FB3-9C97-154F-86B2-7E381B951268}" type="slidenum">
              <a:rPr lang="en-US" smtClean="0"/>
              <a:pPr/>
              <a:t>8</a:t>
            </a:fld>
            <a:r>
              <a:t/>
            </a:r>
            <a:endParaRPr lang="en-US" dirty="0"/>
          </a:p>
        </p:txBody>
      </p:sp>
      <p:sp>
        <p:nvSpPr>
          <p:cNvPr id="10" name="footer">
            <a:extLst>
              <a:ext uri="{FF2B5EF4-FFF2-40B4-BE49-F238E27FC236}">
                <a16:creationId xmlns:a16="http://schemas.microsoft.com/office/drawing/2014/main" id="{C6178C44-34F3-E916-F226-5BD35B9DFC3C}"/>
              </a:ext>
            </a:extLst>
          </p:cNvPr>
          <p:cNvSpPr>
            <a:spLocks noGrp="1"/>
          </p:cNvSpPr>
          <p:nvPr>
            <p:ph type="ftr" sz="quarter" idx="18"/>
          </p:nvPr>
        </p:nvSpPr>
        <p:spPr>
          <a:xfrm>
            <a:off x="576000" y="12816000"/>
            <a:ext cx="4956176" cy="381000"/>
          </a:xfrm>
        </p:spPr>
        <p:txBody>
          <a:bodyPr/>
          <a:lstStyle/>
          <a:p>
            <a:r>
              <a:t>IBM Confidential</a:t>
            </a:r>
            <a:endParaRPr lang="en-US" dirty="0"/>
          </a:p>
        </p:txBody>
      </p:sp>
      <p:sp>
        <p:nvSpPr>
          <p:cNvPr id="4" name="quote_name">
            <a:extLst>
              <a:ext uri="{FF2B5EF4-FFF2-40B4-BE49-F238E27FC236}">
                <a16:creationId xmlns:a16="http://schemas.microsoft.com/office/drawing/2014/main" id="{C8CC491E-7895-00C6-E810-8F981ACA1582}"/>
              </a:ext>
            </a:extLst>
          </p:cNvPr>
          <p:cNvSpPr txBox="1">
            <a:spLocks/>
          </p:cNvSpPr>
          <p:nvPr/>
        </p:nvSpPr>
        <p:spPr>
          <a:xfrm>
            <a:off x="12771437" y="7620000"/>
            <a:ext cx="11041063" cy="571500"/>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800" kern="0" dirty="0"/>
              <a:t>Senthil kumaran pattabiraman — tech lead, IBM API</a:t>
            </a:r>
          </a:p>
        </p:txBody>
      </p:sp>
    </p:spTree>
    <p:extLst>
      <p:ext uri="{BB962C8B-B14F-4D97-AF65-F5344CB8AC3E}">
        <p14:creationId xmlns:p14="http://schemas.microsoft.com/office/powerpoint/2010/main" val="360919639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88CB7BD-9975-784F-2957-374A26198022}"/>
              </a:ext>
            </a:extLst>
          </p:cNvPr>
          <p:cNvSpPr>
            <a:spLocks noGrp="1"/>
          </p:cNvSpPr>
          <p:nvPr>
            <p:ph type="title"/>
          </p:nvPr>
        </p:nvSpPr>
        <p:spPr>
          <a:xfrm>
            <a:off x="576072" y="576072"/>
            <a:ext cx="4949825" cy="3284728"/>
          </a:xfrm>
        </p:spPr>
        <p:txBody>
          <a:bodyPr/>
          <a:lstStyle/>
          <a:p>
            <a:r>
              <a:rPr lang="en-US" dirty="0"/>
              <a:t>Why this is buildable now</a:t>
            </a:r>
            <a:br>
              <a:rPr lang="en-US" dirty="0"/>
            </a:br>
            <a:r>
              <a:rPr lang="en-US" dirty="0"/>
              <a:t/>
            </a:r>
          </a:p>
        </p:txBody>
      </p:sp>
      <p:sp>
        <p:nvSpPr>
          <p:cNvPr id="2" name="statistic_01">
            <a:extLst>
              <a:ext uri="{FF2B5EF4-FFF2-40B4-BE49-F238E27FC236}">
                <a16:creationId xmlns:a16="http://schemas.microsoft.com/office/drawing/2014/main" id="{A12FA81B-2ED4-3D7D-96B6-348AE7E93064}"/>
              </a:ext>
            </a:extLst>
          </p:cNvPr>
          <p:cNvSpPr>
            <a:spLocks noGrp="1"/>
          </p:cNvSpPr>
          <p:nvPr>
            <p:ph type="body" sz="quarter" idx="15"/>
          </p:nvPr>
        </p:nvSpPr>
        <p:spPr>
          <a:xfrm>
            <a:off x="6667500" y="385200"/>
            <a:ext cx="4951413" cy="1907912"/>
          </a:xfrm>
        </p:spPr>
        <p:txBody>
          <a:bodyPr/>
          <a:lstStyle/>
          <a:p>
            <a:r>
              <a:rPr lang="en-US" dirty="0"/>
              <a:t>0</a:t>
            </a:r>
          </a:p>
        </p:txBody>
      </p:sp>
      <p:sp>
        <p:nvSpPr>
          <p:cNvPr id="41" name="statistic_claim_01">
            <a:extLst>
              <a:ext uri="{FF2B5EF4-FFF2-40B4-BE49-F238E27FC236}">
                <a16:creationId xmlns:a16="http://schemas.microsoft.com/office/drawing/2014/main" id="{844814D6-EF80-DA86-C12F-DF0ED08883BA}"/>
              </a:ext>
            </a:extLst>
          </p:cNvPr>
          <p:cNvSpPr>
            <a:spLocks noGrp="1"/>
          </p:cNvSpPr>
          <p:nvPr>
            <p:ph type="body" sz="quarter" idx="12"/>
          </p:nvPr>
        </p:nvSpPr>
        <p:spPr>
          <a:xfrm>
            <a:off x="6667500" y="2333067"/>
            <a:ext cx="4951413" cy="9862108"/>
          </a:xfrm>
        </p:spPr>
        <p:txBody>
          <a:bodyPr/>
          <a:lstStyle/>
          <a:p>
            <a:r>
              <a:rPr lang="en-US" dirty="0"/>
              <a:t>New tools required — everything runs through Bob infrastructure IBM teams already use</a:t>
            </a:r>
            <a:r>
              <a:rPr lang="en-US" baseline="30000" dirty="0"/>
              <a:t/>
            </a:r>
          </a:p>
        </p:txBody>
      </p:sp>
      <p:sp>
        <p:nvSpPr>
          <p:cNvPr id="8" name="statistic_02">
            <a:extLst>
              <a:ext uri="{FF2B5EF4-FFF2-40B4-BE49-F238E27FC236}">
                <a16:creationId xmlns:a16="http://schemas.microsoft.com/office/drawing/2014/main" id="{C1340564-848A-490A-6BD2-DB6247C82C27}"/>
              </a:ext>
            </a:extLst>
          </p:cNvPr>
          <p:cNvSpPr>
            <a:spLocks noGrp="1"/>
          </p:cNvSpPr>
          <p:nvPr>
            <p:ph type="body" sz="quarter" idx="16"/>
          </p:nvPr>
        </p:nvSpPr>
        <p:spPr>
          <a:xfrm>
            <a:off x="12780000" y="385200"/>
            <a:ext cx="4949825" cy="1906588"/>
          </a:xfrm>
        </p:spPr>
        <p:txBody>
          <a:bodyPr/>
          <a:lstStyle/>
          <a:p>
            <a:r>
              <a:rPr lang="en-US" dirty="0"/>
              <a:t>0</a:t>
            </a:r>
          </a:p>
        </p:txBody>
      </p:sp>
      <p:sp>
        <p:nvSpPr>
          <p:cNvPr id="42" name="statistic_claim_02">
            <a:extLst>
              <a:ext uri="{FF2B5EF4-FFF2-40B4-BE49-F238E27FC236}">
                <a16:creationId xmlns:a16="http://schemas.microsoft.com/office/drawing/2014/main" id="{B4FBDA2F-4C29-3313-CC75-DF3526AB713A}"/>
              </a:ext>
            </a:extLst>
          </p:cNvPr>
          <p:cNvSpPr>
            <a:spLocks noGrp="1"/>
          </p:cNvSpPr>
          <p:nvPr>
            <p:ph type="body" sz="quarter" idx="13"/>
          </p:nvPr>
        </p:nvSpPr>
        <p:spPr>
          <a:xfrm>
            <a:off x="12780000" y="2334654"/>
            <a:ext cx="4953000" cy="9862108"/>
          </a:xfrm>
        </p:spPr>
        <p:txBody>
          <a:bodyPr/>
          <a:lstStyle/>
          <a:p>
            <a:r>
              <a:rPr lang="en-US" dirty="0"/>
              <a:t>Procurement needed — carbon MCP, figma MCP, and Jira MCP are available to all IBM teams today</a:t>
            </a:r>
            <a:r>
              <a:rPr lang="en-US" baseline="30000" dirty="0"/>
              <a:t/>
            </a:r>
          </a:p>
        </p:txBody>
      </p:sp>
      <p:sp>
        <p:nvSpPr>
          <p:cNvPr id="9" name="statistic_03">
            <a:extLst>
              <a:ext uri="{FF2B5EF4-FFF2-40B4-BE49-F238E27FC236}">
                <a16:creationId xmlns:a16="http://schemas.microsoft.com/office/drawing/2014/main" id="{CA84FD69-8106-18AB-0917-1042E8CFAA58}"/>
              </a:ext>
            </a:extLst>
          </p:cNvPr>
          <p:cNvSpPr>
            <a:spLocks noGrp="1"/>
          </p:cNvSpPr>
          <p:nvPr>
            <p:ph type="body" sz="quarter" idx="17"/>
          </p:nvPr>
        </p:nvSpPr>
        <p:spPr>
          <a:xfrm>
            <a:off x="18859500" y="385200"/>
            <a:ext cx="4949825" cy="1903413"/>
          </a:xfrm>
        </p:spPr>
        <p:txBody>
          <a:bodyPr/>
          <a:lstStyle/>
          <a:p>
            <a:r>
              <a:rPr lang="en-US" dirty="0"/>
              <a:t>Live</a:t>
            </a:r>
          </a:p>
        </p:txBody>
      </p:sp>
      <p:sp>
        <p:nvSpPr>
          <p:cNvPr id="43" name="statistic_claim_03">
            <a:extLst>
              <a:ext uri="{FF2B5EF4-FFF2-40B4-BE49-F238E27FC236}">
                <a16:creationId xmlns:a16="http://schemas.microsoft.com/office/drawing/2014/main" id="{4BB208EF-9239-26EF-C308-A084648899BA}"/>
              </a:ext>
            </a:extLst>
          </p:cNvPr>
          <p:cNvSpPr>
            <a:spLocks noGrp="1"/>
          </p:cNvSpPr>
          <p:nvPr>
            <p:ph type="body" sz="quarter" idx="14"/>
          </p:nvPr>
        </p:nvSpPr>
        <p:spPr>
          <a:xfrm>
            <a:off x="18859500" y="2333067"/>
            <a:ext cx="4953000" cy="9862108"/>
          </a:xfrm>
        </p:spPr>
        <p:txBody>
          <a:bodyPr/>
          <a:lstStyle/>
          <a:p>
            <a:r>
              <a:rPr lang="en-US" dirty="0"/>
              <a:t>Carbon MCP rule source — maintained by the Carbon team, never stale, no configuration required</a:t>
            </a:r>
            <a:r>
              <a:rPr lang="en-US" baseline="30000" dirty="0"/>
              <a:t/>
            </a:r>
          </a:p>
        </p:txBody>
      </p:sp>
      <p:sp>
        <p:nvSpPr>
          <p:cNvPr id="4" name="statistic_sources">
            <a:extLst>
              <a:ext uri="{FF2B5EF4-FFF2-40B4-BE49-F238E27FC236}">
                <a16:creationId xmlns:a16="http://schemas.microsoft.com/office/drawing/2014/main" id="{61F0655D-F7DE-3F82-1F25-6A3D382399B0}"/>
              </a:ext>
            </a:extLst>
          </p:cNvPr>
          <p:cNvSpPr>
            <a:spLocks noGrp="1"/>
          </p:cNvSpPr>
          <p:nvPr>
            <p:ph type="body" sz="quarter" idx="11"/>
          </p:nvPr>
        </p:nvSpPr>
        <p:spPr>
          <a:xfrm>
            <a:off x="6670675" y="12058650"/>
            <a:ext cx="4951413" cy="1143000"/>
          </a:xfrm>
        </p:spPr>
        <p:txBody>
          <a:bodyPr/>
          <a:lstStyle/>
          <a:p>
            <a:pPr marL="228600" indent="-228600">
              <a:buFont typeface="+mj-lt"/>
              <a:buAutoNum type="arabicPeriod"/>
            </a:pPr>
            <a:r>
              <a:rPr lang="en-US" dirty="0"/>
              <a:t>Carbon MCP public preview, august 2026 | figma MCP connected in Bob | Jira MCP available as Bob skill</a:t>
            </a:r>
          </a:p>
        </p:txBody>
      </p:sp>
      <p:sp>
        <p:nvSpPr>
          <p:cNvPr id="11" name="slide_number">
            <a:extLst>
              <a:ext uri="{FF2B5EF4-FFF2-40B4-BE49-F238E27FC236}">
                <a16:creationId xmlns:a16="http://schemas.microsoft.com/office/drawing/2014/main" id="{081F1433-D1F8-C656-E4E2-DD5C99D7D410}"/>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p>
            <a:fld id="{86CB4B4D-7CA3-9044-876B-883B54F8677D}" type="slidenum">
              <a:rPr lang="en-US" smtClean="0"/>
              <a:pPr/>
              <a:t>11</a:t>
            </a:fld>
            <a:r>
              <a:t/>
            </a:r>
            <a:endParaRPr lang="en-US" dirty="0"/>
          </a:p>
        </p:txBody>
      </p:sp>
      <p:cxnSp>
        <p:nvCxnSpPr>
          <p:cNvPr id="13" name="divider" descr="Vertical column divider">
            <a:extLst>
              <a:ext uri="{FF2B5EF4-FFF2-40B4-BE49-F238E27FC236}">
                <a16:creationId xmlns:a16="http://schemas.microsoft.com/office/drawing/2014/main" id="{26A5D6BC-9158-1382-75CC-9D80ADD18064}"/>
              </a:ext>
            </a:extLst>
          </p:cNvPr>
          <p:cNvCxnSpPr>
            <a:cxnSpLocks noGrp="1" noRot="1" noMove="1" noResize="1" noEditPoints="1" noAdjustHandles="1" noChangeArrowheads="1" noChangeShapeType="1"/>
          </p:cNvCxnSpPr>
          <p:nvPr/>
        </p:nvCxnSpPr>
        <p:spPr bwMode="auto">
          <a:xfrm>
            <a:off x="6096000" y="570103"/>
            <a:ext cx="0" cy="1162824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divider" descr="Vertical column divider">
            <a:extLst>
              <a:ext uri="{FF2B5EF4-FFF2-40B4-BE49-F238E27FC236}">
                <a16:creationId xmlns:a16="http://schemas.microsoft.com/office/drawing/2014/main" id="{816FB175-60BA-3D69-D46D-6F9F4961DCF6}"/>
              </a:ext>
            </a:extLst>
          </p:cNvPr>
          <p:cNvCxnSpPr>
            <a:cxnSpLocks noGrp="1" noRot="1" noMove="1" noResize="1" noEditPoints="1" noAdjustHandles="1" noChangeArrowheads="1" noChangeShapeType="1"/>
          </p:cNvCxnSpPr>
          <p:nvPr/>
        </p:nvCxnSpPr>
        <p:spPr bwMode="auto">
          <a:xfrm>
            <a:off x="18288000" y="570103"/>
            <a:ext cx="0" cy="1162824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divider" descr="Vertical column divider">
            <a:extLst>
              <a:ext uri="{FF2B5EF4-FFF2-40B4-BE49-F238E27FC236}">
                <a16:creationId xmlns:a16="http://schemas.microsoft.com/office/drawing/2014/main" id="{4DC9A509-39EB-58B5-0F4D-D6005F3EFEC7}"/>
              </a:ext>
            </a:extLst>
          </p:cNvPr>
          <p:cNvCxnSpPr>
            <a:cxnSpLocks noGrp="1" noRot="1" noMove="1" noResize="1" noEditPoints="1" noAdjustHandles="1" noChangeArrowheads="1" noChangeShapeType="1"/>
          </p:cNvCxnSpPr>
          <p:nvPr/>
        </p:nvCxnSpPr>
        <p:spPr bwMode="auto">
          <a:xfrm>
            <a:off x="12192000" y="570103"/>
            <a:ext cx="0" cy="1162824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footer">
            <a:extLst>
              <a:ext uri="{FF2B5EF4-FFF2-40B4-BE49-F238E27FC236}">
                <a16:creationId xmlns:a16="http://schemas.microsoft.com/office/drawing/2014/main" id="{04C13F85-121B-5084-2D5D-00B9B63501CC}"/>
              </a:ext>
            </a:extLst>
          </p:cNvPr>
          <p:cNvSpPr>
            <a:spLocks noGrp="1"/>
          </p:cNvSpPr>
          <p:nvPr>
            <p:ph type="ftr" sz="quarter" idx="18"/>
          </p:nvPr>
        </p:nvSpPr>
        <p:spPr>
          <a:xfrm>
            <a:off x="576000" y="12816000"/>
            <a:ext cx="4956176" cy="381000"/>
          </a:xfrm>
        </p:spPr>
        <p:txBody>
          <a:bodyPr/>
          <a:lstStyle/>
          <a:p>
            <a:r>
              <a:t>IBM Confidential</a:t>
            </a:r>
            <a:endParaRPr lang="en-US" dirty="0"/>
          </a:p>
        </p:txBody>
      </p:sp>
    </p:spTree>
    <p:extLst>
      <p:ext uri="{BB962C8B-B14F-4D97-AF65-F5344CB8AC3E}">
        <p14:creationId xmlns:p14="http://schemas.microsoft.com/office/powerpoint/2010/main" val="358741884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EC4870F-2BCD-D032-E9C3-B54F5E7578F6}"/>
              </a:ext>
            </a:extLst>
          </p:cNvPr>
          <p:cNvSpPr>
            <a:spLocks noGrp="1"/>
          </p:cNvSpPr>
          <p:nvPr>
            <p:ph type="title"/>
          </p:nvPr>
        </p:nvSpPr>
        <p:spPr>
          <a:xfrm>
            <a:off x="576000" y="576071"/>
            <a:ext cx="4949825" cy="2468753"/>
          </a:xfrm>
        </p:spPr>
        <p:txBody>
          <a:bodyPr/>
          <a:lstStyle/>
          <a:p>
            <a:r>
              <a:rPr lang="en-US" dirty="0"/>
              <a:t>What developers told us</a:t>
            </a:r>
          </a:p>
        </p:txBody>
      </p:sp>
      <p:sp>
        <p:nvSpPr>
          <p:cNvPr id="13" name="body_copy_title_01">
            <a:extLst>
              <a:ext uri="{FF2B5EF4-FFF2-40B4-BE49-F238E27FC236}">
                <a16:creationId xmlns:a16="http://schemas.microsoft.com/office/drawing/2014/main" id="{D9F0A87D-C393-66AC-9BA1-53B784734EB6}"/>
              </a:ext>
            </a:extLst>
          </p:cNvPr>
          <p:cNvSpPr>
            <a:spLocks noGrp="1"/>
          </p:cNvSpPr>
          <p:nvPr>
            <p:ph type="body" sz="quarter" idx="15"/>
          </p:nvPr>
        </p:nvSpPr>
        <p:spPr>
          <a:xfrm>
            <a:off x="6667500" y="576072"/>
            <a:ext cx="4956175" cy="1843037"/>
          </a:xfrm>
        </p:spPr>
        <p:txBody>
          <a:bodyPr/>
          <a:lstStyle/>
          <a:p>
            <a:r>
              <a:rPr lang="en-US" dirty="0"/>
              <a:t>Token compliance is invisible</a:t>
            </a:r>
          </a:p>
        </p:txBody>
      </p:sp>
      <p:sp>
        <p:nvSpPr>
          <p:cNvPr id="10" name="body_copy_01">
            <a:extLst>
              <a:ext uri="{FF2B5EF4-FFF2-40B4-BE49-F238E27FC236}">
                <a16:creationId xmlns:a16="http://schemas.microsoft.com/office/drawing/2014/main" id="{01F55476-4EB8-A992-DE96-B2C94F109447}"/>
              </a:ext>
            </a:extLst>
          </p:cNvPr>
          <p:cNvSpPr>
            <a:spLocks noGrp="1"/>
          </p:cNvSpPr>
          <p:nvPr>
            <p:ph type="body" sz="quarter" idx="12"/>
          </p:nvPr>
        </p:nvSpPr>
        <p:spPr>
          <a:xfrm>
            <a:off x="6667500" y="3047999"/>
            <a:ext cx="4951413" cy="9156701"/>
          </a:xfrm>
        </p:spPr>
        <p:txBody>
          <a:bodyPr/>
          <a:lstStyle/>
          <a:p>
            <a:r>
              <a:rPr lang="en-US" dirty="0"/>
              <a:t>Spacing is copied as px values from figma inspect. colours are pasted as hex codes. the screen looks correct — but the code is not carbon-compliant. no tool can detect this.</a:t>
            </a:r>
            <a:br>
              <a:rPr lang="en-US" dirty="0"/>
            </a:br>
            <a:r>
              <a:rPr lang="en-US" dirty="0"/>
              <a:t/>
            </a:r>
          </a:p>
        </p:txBody>
      </p:sp>
      <p:sp>
        <p:nvSpPr>
          <p:cNvPr id="14" name="body_copy_title_02">
            <a:extLst>
              <a:ext uri="{FF2B5EF4-FFF2-40B4-BE49-F238E27FC236}">
                <a16:creationId xmlns:a16="http://schemas.microsoft.com/office/drawing/2014/main" id="{77BBAE63-9F0F-1CB2-8DF3-3050E5DC1C91}"/>
              </a:ext>
            </a:extLst>
          </p:cNvPr>
          <p:cNvSpPr>
            <a:spLocks noGrp="1"/>
          </p:cNvSpPr>
          <p:nvPr>
            <p:ph type="body" sz="quarter" idx="16"/>
          </p:nvPr>
        </p:nvSpPr>
        <p:spPr>
          <a:xfrm>
            <a:off x="12780000" y="576072"/>
            <a:ext cx="4953000" cy="1843037"/>
          </a:xfrm>
        </p:spPr>
        <p:txBody>
          <a:bodyPr/>
          <a:lstStyle/>
          <a:p>
            <a:r>
              <a:rPr lang="en-US" dirty="0"/>
              <a:t>No formal review gate</a:t>
            </a:r>
          </a:p>
        </p:txBody>
      </p:sp>
      <p:sp>
        <p:nvSpPr>
          <p:cNvPr id="11" name="body_copy_02">
            <a:extLst>
              <a:ext uri="{FF2B5EF4-FFF2-40B4-BE49-F238E27FC236}">
                <a16:creationId xmlns:a16="http://schemas.microsoft.com/office/drawing/2014/main" id="{194A0A48-021E-1C1D-F152-2ACF467EE3DC}"/>
              </a:ext>
            </a:extLst>
          </p:cNvPr>
          <p:cNvSpPr>
            <a:spLocks noGrp="1"/>
          </p:cNvSpPr>
          <p:nvPr>
            <p:ph type="body" sz="quarter" idx="13"/>
          </p:nvPr>
        </p:nvSpPr>
        <p:spPr>
          <a:xfrm>
            <a:off x="12780000" y="3048000"/>
            <a:ext cx="4953000" cy="9156700"/>
          </a:xfrm>
        </p:spPr>
        <p:txBody>
          <a:bodyPr/>
          <a:lstStyle/>
          <a:p>
            <a:r>
              <a:rPr lang="en-US" dirty="0"/>
              <a:t>Non-compliant code can merge with no accountability. issues surface in QA post-merge — or are never caught. without a gate, teams have no recourse when problems surface late.</a:t>
            </a:r>
          </a:p>
        </p:txBody>
      </p:sp>
      <p:sp>
        <p:nvSpPr>
          <p:cNvPr id="15" name="body_copy_title_03">
            <a:extLst>
              <a:ext uri="{FF2B5EF4-FFF2-40B4-BE49-F238E27FC236}">
                <a16:creationId xmlns:a16="http://schemas.microsoft.com/office/drawing/2014/main" id="{3A1D768E-B75F-C675-F3FD-0F753840647E}"/>
              </a:ext>
            </a:extLst>
          </p:cNvPr>
          <p:cNvSpPr>
            <a:spLocks noGrp="1"/>
          </p:cNvSpPr>
          <p:nvPr>
            <p:ph type="body" sz="quarter" idx="17"/>
          </p:nvPr>
        </p:nvSpPr>
        <p:spPr>
          <a:xfrm>
            <a:off x="18859500" y="576072"/>
            <a:ext cx="4959350" cy="1843037"/>
          </a:xfrm>
        </p:spPr>
        <p:txBody>
          <a:bodyPr/>
          <a:lstStyle/>
          <a:p>
            <a:r>
              <a:rPr lang="en-US" dirty="0"/>
              <a:t>Bob inherits wrong components</a:t>
            </a:r>
          </a:p>
        </p:txBody>
      </p:sp>
      <p:sp>
        <p:nvSpPr>
          <p:cNvPr id="12" name="body_copy_03">
            <a:extLst>
              <a:ext uri="{FF2B5EF4-FFF2-40B4-BE49-F238E27FC236}">
                <a16:creationId xmlns:a16="http://schemas.microsoft.com/office/drawing/2014/main" id="{CB3E6BAC-ECC3-54A5-48D5-DCFE8C6C92D9}"/>
              </a:ext>
            </a:extLst>
          </p:cNvPr>
          <p:cNvSpPr>
            <a:spLocks noGrp="1"/>
          </p:cNvSpPr>
          <p:nvPr>
            <p:ph type="body" sz="quarter" idx="14"/>
          </p:nvPr>
        </p:nvSpPr>
        <p:spPr>
          <a:xfrm>
            <a:off x="18859500" y="3048000"/>
            <a:ext cx="4959350" cy="9156700"/>
          </a:xfrm>
        </p:spPr>
        <p:txBody>
          <a:bodyPr/>
          <a:lstStyle/>
          <a:p>
            <a:r>
              <a:rPr lang="en-US" dirty="0"/>
              <a:t>When Bob generates UI in a repo with legacy components, it reuses them without warning. developers must explicitly say 'use carbon' — compliance is opt-in, not default.</a:t>
            </a:r>
          </a:p>
        </p:txBody>
      </p:sp>
      <p:sp>
        <p:nvSpPr>
          <p:cNvPr id="17" name="slide_number">
            <a:extLst>
              <a:ext uri="{FF2B5EF4-FFF2-40B4-BE49-F238E27FC236}">
                <a16:creationId xmlns:a16="http://schemas.microsoft.com/office/drawing/2014/main" id="{58CF5833-585E-7519-E029-64D6A13E3E02}"/>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p>
            <a:fld id="{86CB4B4D-7CA3-9044-876B-883B54F8677D}" type="slidenum">
              <a:rPr lang="en-US" smtClean="0"/>
              <a:pPr/>
              <a:t>17</a:t>
            </a:fld>
            <a:r>
              <a:t/>
            </a:r>
            <a:endParaRPr lang="en-US" dirty="0"/>
          </a:p>
        </p:txBody>
      </p:sp>
      <p:sp>
        <p:nvSpPr>
          <p:cNvPr id="4" name="footer">
            <a:extLst>
              <a:ext uri="{FF2B5EF4-FFF2-40B4-BE49-F238E27FC236}">
                <a16:creationId xmlns:a16="http://schemas.microsoft.com/office/drawing/2014/main" id="{ED38F0F3-1FEC-5ABD-2108-62F2A88F1CD3}"/>
              </a:ext>
            </a:extLst>
          </p:cNvPr>
          <p:cNvSpPr>
            <a:spLocks noGrp="1"/>
          </p:cNvSpPr>
          <p:nvPr>
            <p:ph type="ftr" sz="quarter" idx="18"/>
          </p:nvPr>
        </p:nvSpPr>
        <p:spPr>
          <a:xfrm>
            <a:off x="576000" y="12816000"/>
            <a:ext cx="4956176" cy="381000"/>
          </a:xfrm>
        </p:spPr>
        <p:txBody>
          <a:bodyPr/>
          <a:lstStyle/>
          <a:p>
            <a:r>
              <a:t>IBM Confidential</a:t>
            </a:r>
            <a:endParaRPr lang="en-US" dirty="0"/>
          </a:p>
        </p:txBody>
      </p:sp>
    </p:spTree>
    <p:extLst>
      <p:ext uri="{BB962C8B-B14F-4D97-AF65-F5344CB8AC3E}">
        <p14:creationId xmlns:p14="http://schemas.microsoft.com/office/powerpoint/2010/main" val="300667737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86A90-7372-9A18-3177-DC8AB798A9B0}"/>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462A7AF4-F3DD-9D89-2FA8-D11B5A639659}"/>
              </a:ext>
            </a:extLst>
          </p:cNvPr>
          <p:cNvSpPr>
            <a:spLocks noGrp="1"/>
          </p:cNvSpPr>
          <p:nvPr>
            <p:ph type="title"/>
          </p:nvPr>
        </p:nvSpPr>
        <p:spPr>
          <a:xfrm>
            <a:off x="576000" y="576071"/>
            <a:ext cx="4949825" cy="2468753"/>
          </a:xfrm>
        </p:spPr>
        <p:txBody>
          <a:bodyPr/>
          <a:lstStyle/>
          <a:p>
            <a:r>
              <a:rPr lang="en-US" dirty="0"/>
              <a:t>Recommended next steps</a:t>
            </a:r>
          </a:p>
        </p:txBody>
      </p:sp>
      <p:sp>
        <p:nvSpPr>
          <p:cNvPr id="13" name="body_copy_title_01">
            <a:extLst>
              <a:ext uri="{FF2B5EF4-FFF2-40B4-BE49-F238E27FC236}">
                <a16:creationId xmlns:a16="http://schemas.microsoft.com/office/drawing/2014/main" id="{9B78722E-6789-9FF3-3BD6-7819AB0B83D2}"/>
              </a:ext>
            </a:extLst>
          </p:cNvPr>
          <p:cNvSpPr>
            <a:spLocks noGrp="1"/>
          </p:cNvSpPr>
          <p:nvPr>
            <p:ph type="body" sz="quarter" idx="15"/>
          </p:nvPr>
        </p:nvSpPr>
        <p:spPr>
          <a:xfrm>
            <a:off x="6667500" y="576072"/>
            <a:ext cx="4956175" cy="1843037"/>
          </a:xfrm>
        </p:spPr>
        <p:txBody>
          <a:bodyPr/>
          <a:lstStyle/>
          <a:p>
            <a:r>
              <a:rPr lang="en-US" dirty="0"/>
              <a:t>Validate report format</a:t>
            </a:r>
          </a:p>
        </p:txBody>
      </p:sp>
      <p:sp>
        <p:nvSpPr>
          <p:cNvPr id="10" name="body_copy_list_01">
            <a:extLst>
              <a:ext uri="{FF2B5EF4-FFF2-40B4-BE49-F238E27FC236}">
                <a16:creationId xmlns:a16="http://schemas.microsoft.com/office/drawing/2014/main" id="{6395C44A-4B08-6BE1-FB54-77F041B9993D}"/>
              </a:ext>
            </a:extLst>
          </p:cNvPr>
          <p:cNvSpPr>
            <a:spLocks noGrp="1"/>
          </p:cNvSpPr>
          <p:nvPr>
            <p:ph type="body" sz="quarter" idx="12"/>
          </p:nvPr>
        </p:nvSpPr>
        <p:spPr>
          <a:xfrm>
            <a:off x="6667500" y="3047999"/>
            <a:ext cx="4951413" cy="9156701"/>
          </a:xfrm>
        </p:spPr>
        <p:txBody>
          <a:bodyPr/>
          <a:lstStyle/>
          <a:p>
            <a:pPr lvl="1"/>
            <a:r>
              <a:rPr lang="en-US" dirty="0"/>
              <a:t>Generate a real compliance report on the API team's current sprint work</a:t>
            </a:r>
          </a:p>
          <a:p>
            <a:pPr lvl="2"/>
            <a:r>
              <a:rPr lang="en-US" dirty="0"/>
              <a:t>Show Senthil the Jira ticket output</a:t>
            </a:r>
          </a:p>
          <a:p>
            <a:pPr lvl="3"/>
            <a:r>
              <a:rPr lang="en-US" dirty="0"/>
              <a:t>Iterate on report format before opening to other teams</a:t>
            </a:r>
            <a:r>
              <a:rPr lang="en-US"/>
              <a:t/>
            </a:r>
            <a:endParaRPr lang="en-US" dirty="0"/>
          </a:p>
        </p:txBody>
      </p:sp>
      <p:sp>
        <p:nvSpPr>
          <p:cNvPr id="14" name="body_copy_title_02">
            <a:extLst>
              <a:ext uri="{FF2B5EF4-FFF2-40B4-BE49-F238E27FC236}">
                <a16:creationId xmlns:a16="http://schemas.microsoft.com/office/drawing/2014/main" id="{CBDED005-1655-653B-A740-BB463E01BA65}"/>
              </a:ext>
            </a:extLst>
          </p:cNvPr>
          <p:cNvSpPr>
            <a:spLocks noGrp="1"/>
          </p:cNvSpPr>
          <p:nvPr>
            <p:ph type="body" sz="quarter" idx="16"/>
          </p:nvPr>
        </p:nvSpPr>
        <p:spPr>
          <a:xfrm>
            <a:off x="12780000" y="576072"/>
            <a:ext cx="4953000" cy="1843037"/>
          </a:xfrm>
        </p:spPr>
        <p:txBody>
          <a:bodyPr/>
          <a:lstStyle/>
          <a:p>
            <a:r>
              <a:rPr lang="en-US" dirty="0"/>
              <a:t>Set up pilot</a:t>
            </a:r>
          </a:p>
        </p:txBody>
      </p:sp>
      <p:sp>
        <p:nvSpPr>
          <p:cNvPr id="11" name="body_copy_list_02">
            <a:extLst>
              <a:ext uri="{FF2B5EF4-FFF2-40B4-BE49-F238E27FC236}">
                <a16:creationId xmlns:a16="http://schemas.microsoft.com/office/drawing/2014/main" id="{6971534E-DB10-D5BC-45AE-68453325650A}"/>
              </a:ext>
            </a:extLst>
          </p:cNvPr>
          <p:cNvSpPr>
            <a:spLocks noGrp="1"/>
          </p:cNvSpPr>
          <p:nvPr>
            <p:ph type="body" sz="quarter" idx="13"/>
          </p:nvPr>
        </p:nvSpPr>
        <p:spPr>
          <a:xfrm>
            <a:off x="12780000" y="3048000"/>
            <a:ext cx="4953000" cy="9156700"/>
          </a:xfrm>
        </p:spPr>
        <p:txBody>
          <a:bodyPr/>
          <a:lstStyle/>
          <a:p>
            <a:pPr lvl="1"/>
            <a:r>
              <a:rPr lang="en-US" dirty="0"/>
              <a:t>Set up code connect on a pilot figma frame with the API team</a:t>
            </a:r>
          </a:p>
          <a:p>
            <a:pPr lvl="2"/>
            <a:r>
              <a:rPr lang="en-US" dirty="0"/>
              <a:t>Confirm Jira board ID and label taxonomy</a:t>
            </a:r>
          </a:p>
          <a:p>
            <a:pPr lvl="3"/>
            <a:r>
              <a:rPr lang="en-US" dirty="0"/>
              <a:t>Build the Bob skill scaffold and report template</a:t>
            </a:r>
          </a:p>
        </p:txBody>
      </p:sp>
      <p:sp>
        <p:nvSpPr>
          <p:cNvPr id="15" name="body_copy_title_03">
            <a:extLst>
              <a:ext uri="{FF2B5EF4-FFF2-40B4-BE49-F238E27FC236}">
                <a16:creationId xmlns:a16="http://schemas.microsoft.com/office/drawing/2014/main" id="{61B1C5DA-4CB3-DD26-F33E-62820062D448}"/>
              </a:ext>
            </a:extLst>
          </p:cNvPr>
          <p:cNvSpPr>
            <a:spLocks noGrp="1"/>
          </p:cNvSpPr>
          <p:nvPr>
            <p:ph type="body" sz="quarter" idx="17"/>
          </p:nvPr>
        </p:nvSpPr>
        <p:spPr>
          <a:xfrm>
            <a:off x="18859500" y="576072"/>
            <a:ext cx="4959350" cy="1843037"/>
          </a:xfrm>
        </p:spPr>
        <p:txBody>
          <a:bodyPr/>
          <a:lstStyle/>
          <a:p>
            <a:r>
              <a:rPr lang="en-US" dirty="0"/>
              <a:t>Run a live demo</a:t>
            </a:r>
          </a:p>
        </p:txBody>
      </p:sp>
      <p:sp>
        <p:nvSpPr>
          <p:cNvPr id="12" name="body_copy_list_01">
            <a:extLst>
              <a:ext uri="{FF2B5EF4-FFF2-40B4-BE49-F238E27FC236}">
                <a16:creationId xmlns:a16="http://schemas.microsoft.com/office/drawing/2014/main" id="{DAD578FB-2CAA-0BDF-536F-ECE34C089A69}"/>
              </a:ext>
            </a:extLst>
          </p:cNvPr>
          <p:cNvSpPr>
            <a:spLocks noGrp="1"/>
          </p:cNvSpPr>
          <p:nvPr>
            <p:ph type="body" sz="quarter" idx="14"/>
          </p:nvPr>
        </p:nvSpPr>
        <p:spPr>
          <a:xfrm>
            <a:off x="18859500" y="3048000"/>
            <a:ext cx="4959350" cy="9156700"/>
          </a:xfrm>
        </p:spPr>
        <p:txBody>
          <a:bodyPr/>
          <a:lstStyle/>
          <a:p>
            <a:pPr lvl="1"/>
            <a:r>
              <a:rPr lang="en-US" dirty="0"/>
              <a:t>List item #1</a:t>
            </a:r>
          </a:p>
          <a:p>
            <a:pPr lvl="2"/>
            <a:r>
              <a:rPr lang="en-US" dirty="0"/>
              <a:t>List item #2</a:t>
            </a:r>
          </a:p>
          <a:p>
            <a:pPr lvl="3"/>
            <a:r>
              <a:rPr lang="en-US" dirty="0"/>
              <a:t>List item #3</a:t>
            </a:r>
          </a:p>
          <a:p>
            <a:pPr marL="365760" lvl="3" indent="0">
              <a:buNone/>
            </a:pPr>
            <a:endParaRPr lang="en-US" dirty="0"/>
          </a:p>
        </p:txBody>
      </p:sp>
      <p:sp>
        <p:nvSpPr>
          <p:cNvPr id="17" name="slide_number">
            <a:extLst>
              <a:ext uri="{FF2B5EF4-FFF2-40B4-BE49-F238E27FC236}">
                <a16:creationId xmlns:a16="http://schemas.microsoft.com/office/drawing/2014/main" id="{307398DF-0560-DB78-1275-8115C6A49523}"/>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p>
            <a:fld id="{86CB4B4D-7CA3-9044-876B-883B54F8677D}" type="slidenum">
              <a:rPr lang="en-US" smtClean="0"/>
              <a:pPr/>
              <a:t>19</a:t>
            </a:fld>
            <a:r>
              <a:t/>
            </a:r>
            <a:endParaRPr lang="en-US" dirty="0"/>
          </a:p>
        </p:txBody>
      </p:sp>
      <p:sp>
        <p:nvSpPr>
          <p:cNvPr id="4" name="footer">
            <a:extLst>
              <a:ext uri="{FF2B5EF4-FFF2-40B4-BE49-F238E27FC236}">
                <a16:creationId xmlns:a16="http://schemas.microsoft.com/office/drawing/2014/main" id="{1F2E4332-0B12-3011-C1A8-AAC5BA380BFF}"/>
              </a:ext>
            </a:extLst>
          </p:cNvPr>
          <p:cNvSpPr>
            <a:spLocks noGrp="1"/>
          </p:cNvSpPr>
          <p:nvPr>
            <p:ph type="ftr" sz="quarter" idx="18"/>
          </p:nvPr>
        </p:nvSpPr>
        <p:spPr>
          <a:xfrm>
            <a:off x="576000" y="12816000"/>
            <a:ext cx="4956176" cy="381000"/>
          </a:xfrm>
        </p:spPr>
        <p:txBody>
          <a:bodyPr/>
          <a:lstStyle/>
          <a:p>
            <a:r>
              <a:t>IBM Confidential</a:t>
            </a:r>
            <a:endParaRPr lang="en-US" dirty="0"/>
          </a:p>
        </p:txBody>
      </p:sp>
    </p:spTree>
    <p:extLst>
      <p:ext uri="{BB962C8B-B14F-4D97-AF65-F5344CB8AC3E}">
        <p14:creationId xmlns:p14="http://schemas.microsoft.com/office/powerpoint/2010/main" val="334447683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62C6EF-4994-3BD2-4D37-26B13DD1C1F3}"/>
              </a:ext>
            </a:extLst>
          </p:cNvPr>
          <p:cNvSpPr>
            <a:spLocks noGrp="1"/>
          </p:cNvSpPr>
          <p:nvPr>
            <p:ph type="title"/>
          </p:nvPr>
        </p:nvSpPr>
        <p:spPr>
          <a:xfrm>
            <a:off x="576000" y="384048"/>
            <a:ext cx="4942078" cy="3117978"/>
          </a:xfrm>
        </p:spPr>
        <p:txBody>
          <a:bodyPr/>
          <a:lstStyle/>
          <a:p>
            <a:r>
              <a:rPr lang="en-US" dirty="0"/>
              <a:t>UX Reviewer</a:t>
            </a:r>
          </a:p>
        </p:txBody>
      </p:sp>
      <p:sp>
        <p:nvSpPr>
          <p:cNvPr id="5" name="number">
            <a:extLst>
              <a:ext uri="{FF2B5EF4-FFF2-40B4-BE49-F238E27FC236}">
                <a16:creationId xmlns:a16="http://schemas.microsoft.com/office/drawing/2014/main" id="{59DC0467-17EC-49FF-88DA-CE7F582D4504}"/>
              </a:ext>
            </a:extLst>
          </p:cNvPr>
          <p:cNvSpPr>
            <a:spLocks noGrp="1"/>
          </p:cNvSpPr>
          <p:nvPr>
            <p:ph type="body" sz="quarter" idx="15"/>
          </p:nvPr>
        </p:nvSpPr>
        <p:spPr>
          <a:xfrm>
            <a:off x="6669152" y="384048"/>
            <a:ext cx="4951414" cy="2201269"/>
          </a:xfrm>
        </p:spPr>
        <p:txBody>
          <a:bodyPr/>
          <a:lstStyle/>
          <a:p>
            <a:r>
              <a:rPr lang="en-US" dirty="0"/>
              <a:t>04</a:t>
            </a:r>
          </a:p>
        </p:txBody>
      </p:sp>
      <p:sp>
        <p:nvSpPr>
          <p:cNvPr id="3" name="subtitle">
            <a:extLst>
              <a:ext uri="{FF2B5EF4-FFF2-40B4-BE49-F238E27FC236}">
                <a16:creationId xmlns:a16="http://schemas.microsoft.com/office/drawing/2014/main" id="{9E2865AD-D1DA-93EE-548F-D368FB940EB4}"/>
              </a:ext>
            </a:extLst>
          </p:cNvPr>
          <p:cNvSpPr>
            <a:spLocks noGrp="1"/>
          </p:cNvSpPr>
          <p:nvPr>
            <p:ph type="body" sz="quarter" idx="12"/>
          </p:nvPr>
        </p:nvSpPr>
        <p:spPr>
          <a:xfrm>
            <a:off x="6669153" y="3047999"/>
            <a:ext cx="4951413" cy="9153525"/>
          </a:xfrm>
        </p:spPr>
        <p:txBody>
          <a:bodyPr/>
          <a:lstStyle/>
          <a:p>
            <a:r>
              <a:rPr lang="en-US" dirty="0"/>
              <a:t>A carbon compliance workflow — from figma frame to code branch to Jira ticket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p>
        </p:txBody>
      </p:sp>
      <p:sp>
        <p:nvSpPr>
          <p:cNvPr id="4" name="body_copy">
            <a:extLst>
              <a:ext uri="{FF2B5EF4-FFF2-40B4-BE49-F238E27FC236}">
                <a16:creationId xmlns:a16="http://schemas.microsoft.com/office/drawing/2014/main" id="{0431FAB8-401D-1DD5-2B1A-7DB933AAA643}"/>
              </a:ext>
            </a:extLst>
          </p:cNvPr>
          <p:cNvSpPr>
            <a:spLocks noGrp="1"/>
          </p:cNvSpPr>
          <p:nvPr>
            <p:ph type="body" sz="quarter" idx="13"/>
          </p:nvPr>
        </p:nvSpPr>
        <p:spPr>
          <a:xfrm>
            <a:off x="12780000" y="3047999"/>
            <a:ext cx="10096500" cy="9153525"/>
          </a:xfrm>
        </p:spPr>
        <p:txBody>
          <a:bodyPr/>
          <a:lstStyle/>
          <a:p>
            <a:r>
              <a:rPr lang="en-US" dirty="0"/>
              <a:t>Not a linter. not a visual regression tool. not a documentation platform.</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p>
          <a:p>
            <a:r>
              <a:t>UX reviewer uses carbon MCP as its live rule source — the same documentation maintained by the carbon team, updated with every release. no static rule files. no configuration. no procurement.</a:t>
            </a:r>
            <a:endParaRPr lang="en-US" dirty="0"/>
          </a:p>
          <a:p>
            <a:r>
              <a:rPr lang="en-US" dirty="0" err="1"/>
              <a:t>It works where IBM teams already work — inside Bob, via natural language.</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p>
        </p:txBody>
      </p:sp>
      <p:sp>
        <p:nvSpPr>
          <p:cNvPr id="8" name="slide_number">
            <a:extLst>
              <a:ext uri="{FF2B5EF4-FFF2-40B4-BE49-F238E27FC236}">
                <a16:creationId xmlns:a16="http://schemas.microsoft.com/office/drawing/2014/main" id="{62D468AE-2F95-3550-8B19-2D97EDAF12B0}"/>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p>
            <a:fld id="{86CB4B4D-7CA3-9044-876B-883B54F8677D}" type="slidenum">
              <a:rPr lang="en-US" smtClean="0"/>
              <a:pPr/>
              <a:t>20</a:t>
            </a:fld>
            <a:r>
              <a:t/>
            </a:r>
            <a:endParaRPr lang="en-US" dirty="0"/>
          </a:p>
        </p:txBody>
      </p:sp>
      <p:cxnSp>
        <p:nvCxnSpPr>
          <p:cNvPr id="9" name="divider" descr="Vertical column divider">
            <a:extLst>
              <a:ext uri="{FF2B5EF4-FFF2-40B4-BE49-F238E27FC236}">
                <a16:creationId xmlns:a16="http://schemas.microsoft.com/office/drawing/2014/main" id="{133412DB-D6C1-9D3E-DF48-EAEB85BCEE13}"/>
              </a:ext>
            </a:extLst>
          </p:cNvPr>
          <p:cNvCxnSpPr>
            <a:cxnSpLocks noGrp="1" noRot="1" noMove="1" noResize="1" noEditPoints="1" noAdjustHandles="1" noChangeArrowheads="1" noChangeShapeType="1"/>
          </p:cNvCxnSpPr>
          <p:nvPr/>
        </p:nvCxnSpPr>
        <p:spPr bwMode="auto">
          <a:xfrm>
            <a:off x="12190539" y="566928"/>
            <a:ext cx="0" cy="1163459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footer">
            <a:extLst>
              <a:ext uri="{FF2B5EF4-FFF2-40B4-BE49-F238E27FC236}">
                <a16:creationId xmlns:a16="http://schemas.microsoft.com/office/drawing/2014/main" id="{C9D66280-83BC-2A92-9230-2994545746A8}"/>
              </a:ext>
            </a:extLst>
          </p:cNvPr>
          <p:cNvSpPr>
            <a:spLocks noGrp="1"/>
          </p:cNvSpPr>
          <p:nvPr>
            <p:ph type="ftr" sz="quarter" idx="18"/>
          </p:nvPr>
        </p:nvSpPr>
        <p:spPr>
          <a:xfrm>
            <a:off x="576000" y="12816000"/>
            <a:ext cx="4956176" cy="381000"/>
          </a:xfrm>
        </p:spPr>
        <p:txBody>
          <a:bodyPr/>
          <a:lstStyle/>
          <a:p>
            <a:r>
              <a:t>IBM Confidential</a:t>
            </a:r>
            <a:endParaRPr lang="en-US" dirty="0"/>
          </a:p>
        </p:txBody>
      </p:sp>
    </p:spTree>
    <p:extLst>
      <p:ext uri="{BB962C8B-B14F-4D97-AF65-F5344CB8AC3E}">
        <p14:creationId xmlns:p14="http://schemas.microsoft.com/office/powerpoint/2010/main" val="1771449921"/>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82AAA82-CFDC-60B5-2162-DE9169C08F6A}"/>
              </a:ext>
            </a:extLst>
          </p:cNvPr>
          <p:cNvSpPr>
            <a:spLocks noGrp="1"/>
          </p:cNvSpPr>
          <p:nvPr>
            <p:ph type="title"/>
          </p:nvPr>
        </p:nvSpPr>
        <p:spPr>
          <a:xfrm>
            <a:off x="576000" y="576072"/>
            <a:ext cx="11042913" cy="1906588"/>
          </a:xfrm>
        </p:spPr>
        <p:txBody>
          <a:bodyPr/>
          <a:lstStyle/>
          <a:p>
            <a:r>
              <a:rPr lang="en-US" dirty="0"/>
              <a:t>Why Carbon compliance is hard to enforce today</a:t>
            </a:r>
            <a:br>
              <a:rPr lang="en-US" dirty="0"/>
            </a:br>
            <a:r>
              <a:rPr lang="en-US" dirty="0"/>
              <a:t/>
            </a:r>
          </a:p>
        </p:txBody>
      </p:sp>
      <p:sp>
        <p:nvSpPr>
          <p:cNvPr id="3" name="body_copy_01">
            <a:extLst>
              <a:ext uri="{FF2B5EF4-FFF2-40B4-BE49-F238E27FC236}">
                <a16:creationId xmlns:a16="http://schemas.microsoft.com/office/drawing/2014/main" id="{86AC72F0-44AC-8897-BB5A-5B9A1F79A552}"/>
              </a:ext>
            </a:extLst>
          </p:cNvPr>
          <p:cNvSpPr>
            <a:spLocks noGrp="1"/>
          </p:cNvSpPr>
          <p:nvPr>
            <p:ph type="body" sz="quarter" idx="11"/>
          </p:nvPr>
        </p:nvSpPr>
        <p:spPr>
          <a:xfrm>
            <a:off x="576000" y="3047999"/>
            <a:ext cx="10099675" cy="9153524"/>
          </a:xfrm>
        </p:spPr>
        <p:txBody>
          <a:bodyPr/>
          <a:lstStyle/>
          <a:p>
            <a:r>
              <a:rPr lang="en-US" dirty="0"/>
              <a:t>Teams implement from figma but have no way to verify whether the code they write uses the right carbon components, the right variants, or the right design tokens. spacing is copied as raw pixel values. colour tokens are bypassed with hex codes. wrong components are inherited from legacy codebases without any warning.
All of this looks correct on screen — until a theme switch breaks it, an accessibility audit fails, or a design review catches it post-merge.</a:t>
            </a:r>
          </a:p>
        </p:txBody>
      </p:sp>
      <p:sp>
        <p:nvSpPr>
          <p:cNvPr id="4" name="body_copy_02">
            <a:extLst>
              <a:ext uri="{FF2B5EF4-FFF2-40B4-BE49-F238E27FC236}">
                <a16:creationId xmlns:a16="http://schemas.microsoft.com/office/drawing/2014/main" id="{1420A861-6A4D-FA7D-F08D-8D8F8CD6E5D3}"/>
              </a:ext>
            </a:extLst>
          </p:cNvPr>
          <p:cNvSpPr>
            <a:spLocks noGrp="1"/>
          </p:cNvSpPr>
          <p:nvPr>
            <p:ph type="body" sz="quarter" idx="12"/>
          </p:nvPr>
        </p:nvSpPr>
        <p:spPr>
          <a:xfrm>
            <a:off x="12780000" y="3047999"/>
            <a:ext cx="10096500" cy="9153525"/>
          </a:xfrm>
        </p:spPr>
        <p:txBody>
          <a:bodyPr/>
          <a:lstStyle/>
          <a:p>
            <a:r>
              <a:rPr lang="en-US" dirty="0"/>
              <a:t>The review process that should catch these issues is manual, ad hoc, and late. designers review a screen recording attached to a PR. QA catches issues after merge. some teams have no review gate at all.
This creates compounding UX debt: inconsistent experiences, maintenance liability, and a widening gap between what was designed and what was built — with no shared artefact to trace back to.</a:t>
            </a:r>
          </a:p>
        </p:txBody>
      </p:sp>
      <p:sp>
        <p:nvSpPr>
          <p:cNvPr id="7" name="footer">
            <a:extLst>
              <a:ext uri="{FF2B5EF4-FFF2-40B4-BE49-F238E27FC236}">
                <a16:creationId xmlns:a16="http://schemas.microsoft.com/office/drawing/2014/main" id="{14019FA0-AF71-5184-B3FC-550EF95611EC}"/>
              </a:ext>
            </a:extLst>
          </p:cNvPr>
          <p:cNvSpPr>
            <a:spLocks noGrp="1"/>
          </p:cNvSpPr>
          <p:nvPr>
            <p:ph type="ftr" sz="quarter" idx="18"/>
          </p:nvPr>
        </p:nvSpPr>
        <p:spPr>
          <a:xfrm>
            <a:off x="576000" y="12816000"/>
            <a:ext cx="4956176" cy="381000"/>
          </a:xfrm>
        </p:spPr>
        <p:txBody>
          <a:bodyPr/>
          <a:lstStyle/>
          <a:p>
            <a:r>
              <a:t>IBM Confidential</a:t>
            </a:r>
            <a:endParaRPr lang="en-US" dirty="0"/>
          </a:p>
        </p:txBody>
      </p:sp>
      <p:sp>
        <p:nvSpPr>
          <p:cNvPr id="6" name="slide_number">
            <a:extLst>
              <a:ext uri="{FF2B5EF4-FFF2-40B4-BE49-F238E27FC236}">
                <a16:creationId xmlns:a16="http://schemas.microsoft.com/office/drawing/2014/main" id="{21070B66-2BBA-1AC0-94A3-1D4E1994AFAC}"/>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p>
            <a:fld id="{86CB4B4D-7CA3-9044-876B-883B54F8677D}" type="slidenum">
              <a:rPr lang="en-US" smtClean="0"/>
              <a:pPr/>
              <a:t>22</a:t>
            </a:fld>
            <a:r>
              <a:t/>
            </a:r>
            <a:endParaRPr lang="en-US" dirty="0"/>
          </a:p>
        </p:txBody>
      </p:sp>
    </p:spTree>
    <p:extLst>
      <p:ext uri="{BB962C8B-B14F-4D97-AF65-F5344CB8AC3E}">
        <p14:creationId xmlns:p14="http://schemas.microsoft.com/office/powerpoint/2010/main" val="318296206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FCEF21C-27B5-5BD7-B916-D2EA36863328}"/>
              </a:ext>
            </a:extLst>
          </p:cNvPr>
          <p:cNvSpPr>
            <a:spLocks noGrp="1"/>
          </p:cNvSpPr>
          <p:nvPr>
            <p:ph type="title"/>
          </p:nvPr>
        </p:nvSpPr>
        <p:spPr>
          <a:xfrm>
            <a:off x="576000" y="384048"/>
            <a:ext cx="11039476" cy="4210176"/>
          </a:xfrm>
        </p:spPr>
        <p:txBody>
          <a:bodyPr/>
          <a:lstStyle/>
          <a:p>
            <a:r>
              <a:rPr lang="en-US" dirty="0"/>
              <a:t>Who we spoke to</a:t>
            </a:r>
          </a:p>
        </p:txBody>
      </p:sp>
      <p:sp>
        <p:nvSpPr>
          <p:cNvPr id="3" name="body_copy_title_01">
            <a:extLst>
              <a:ext uri="{FF2B5EF4-FFF2-40B4-BE49-F238E27FC236}">
                <a16:creationId xmlns:a16="http://schemas.microsoft.com/office/drawing/2014/main" id="{D6236602-67CE-96C1-8874-219512AB481C}"/>
              </a:ext>
            </a:extLst>
          </p:cNvPr>
          <p:cNvSpPr>
            <a:spLocks noGrp="1"/>
          </p:cNvSpPr>
          <p:nvPr>
            <p:ph type="body" sz="quarter" idx="16"/>
          </p:nvPr>
        </p:nvSpPr>
        <p:spPr>
          <a:xfrm>
            <a:off x="12780000" y="576072"/>
            <a:ext cx="4953000" cy="1877761"/>
          </a:xfrm>
        </p:spPr>
        <p:txBody>
          <a:bodyPr/>
          <a:lstStyle/>
          <a:p>
            <a:r>
              <a:rPr lang="en-US" dirty="0"/>
              <a:t>3 developer interviews</a:t>
            </a:r>
          </a:p>
        </p:txBody>
      </p:sp>
      <p:sp>
        <p:nvSpPr>
          <p:cNvPr id="5" name="body_copy_01">
            <a:extLst>
              <a:ext uri="{FF2B5EF4-FFF2-40B4-BE49-F238E27FC236}">
                <a16:creationId xmlns:a16="http://schemas.microsoft.com/office/drawing/2014/main" id="{313576C3-E5F3-E003-50F0-F52E5B1339E8}"/>
              </a:ext>
            </a:extLst>
          </p:cNvPr>
          <p:cNvSpPr>
            <a:spLocks noGrp="1"/>
          </p:cNvSpPr>
          <p:nvPr>
            <p:ph type="body" sz="quarter" idx="18"/>
          </p:nvPr>
        </p:nvSpPr>
        <p:spPr>
          <a:xfrm>
            <a:off x="12780000" y="3047999"/>
            <a:ext cx="4953000" cy="9153525"/>
          </a:xfrm>
        </p:spPr>
        <p:txBody>
          <a:bodyPr/>
          <a:lstStyle/>
          <a:p>
            <a:r>
              <a:rPr lang="en-US" dirty="0"/>
              <a:t>Sahana S — frontend dev, integration (carbon react, hex fallbacks)</a:t>
            </a:r>
            <a:br>
              <a:rPr lang="en-US" dirty="0"/>
            </a:br>
            <a:endParaRPr lang="en-US" dirty="0"/>
          </a:p>
          <a:p>
            <a:r>
              <a:rPr lang="en-US" dirty="0"/>
              <a:t>Senthil kumaran — tech lead, API (100% carbon, AI PDLC rules in place)</a:t>
            </a:r>
            <a:br>
              <a:rPr lang="en-US" dirty="0"/>
            </a:br>
            <a:endParaRPr lang="en-US" dirty="0"/>
          </a:p>
          <a:p>
            <a:r>
              <a:rPr lang="en-US" dirty="0"/>
              <a:t>Hariharan SV — frontend dev, integration (angular / primeng, no figma dev mode)</a:t>
            </a:r>
          </a:p>
          <a:p>
            <a:r>
              <a:rPr lang="en-US" dirty="0"/>
              <a:t>Conducted: 21 August 2026</a:t>
            </a:r>
          </a:p>
        </p:txBody>
      </p:sp>
      <p:sp>
        <p:nvSpPr>
          <p:cNvPr id="4" name="body_copy_title_02">
            <a:extLst>
              <a:ext uri="{FF2B5EF4-FFF2-40B4-BE49-F238E27FC236}">
                <a16:creationId xmlns:a16="http://schemas.microsoft.com/office/drawing/2014/main" id="{67A9CCCE-DF39-3BAB-0F35-D743DD761B3A}"/>
              </a:ext>
            </a:extLst>
          </p:cNvPr>
          <p:cNvSpPr>
            <a:spLocks noGrp="1"/>
          </p:cNvSpPr>
          <p:nvPr>
            <p:ph type="body" sz="quarter" idx="17"/>
          </p:nvPr>
        </p:nvSpPr>
        <p:spPr>
          <a:xfrm>
            <a:off x="18859500" y="576072"/>
            <a:ext cx="4959350" cy="1877761"/>
          </a:xfrm>
        </p:spPr>
        <p:txBody>
          <a:bodyPr/>
          <a:lstStyle/>
          <a:p>
            <a:r>
              <a:rPr lang="en-US" dirty="0"/>
              <a:t>1 designer group session</a:t>
            </a:r>
          </a:p>
        </p:txBody>
      </p:sp>
      <p:sp>
        <p:nvSpPr>
          <p:cNvPr id="6" name="body_copy_02">
            <a:extLst>
              <a:ext uri="{FF2B5EF4-FFF2-40B4-BE49-F238E27FC236}">
                <a16:creationId xmlns:a16="http://schemas.microsoft.com/office/drawing/2014/main" id="{D81C034C-3694-08F0-0CDE-191D431A51CF}"/>
              </a:ext>
            </a:extLst>
          </p:cNvPr>
          <p:cNvSpPr>
            <a:spLocks noGrp="1"/>
          </p:cNvSpPr>
          <p:nvPr>
            <p:ph type="body" sz="quarter" idx="19"/>
          </p:nvPr>
        </p:nvSpPr>
        <p:spPr>
          <a:xfrm>
            <a:off x="18862675" y="3047999"/>
            <a:ext cx="4953000" cy="9153524"/>
          </a:xfrm>
        </p:spPr>
        <p:txBody>
          <a:bodyPr/>
          <a:lstStyle/>
          <a:p>
            <a:r>
              <a:rPr lang="en-US" dirty="0"/>
              <a:t>Nagaraj Venkatraj — webMethods B2B (6 years, high custom component debt)</a:t>
            </a:r>
            <a:br>
              <a:rPr lang="en-US" dirty="0"/>
            </a:br>
            <a:endParaRPr lang="en-US" dirty="0"/>
          </a:p>
          <a:p>
            <a:r>
              <a:rPr lang="en-US" dirty="0"/>
              <a:t>Diya susan joseph — API management (full carbon, PR review gate enforced)</a:t>
            </a:r>
            <a:br>
              <a:rPr lang="en-US" dirty="0"/>
            </a:br>
            <a:endParaRPr lang="en-US" dirty="0"/>
          </a:p>
          <a:p>
            <a:r>
              <a:rPr lang="en-US" dirty="0"/>
              <a:t>Animesh jain — webmethods integration (~1.5 years, severe design–dev drift)</a:t>
            </a:r>
          </a:p>
          <a:p>
            <a:r>
              <a:t>Conducted: 20 August 2026</a:t>
            </a:r>
            <a:endParaRPr lang="en-US" dirty="0"/>
          </a:p>
        </p:txBody>
      </p:sp>
      <p:sp>
        <p:nvSpPr>
          <p:cNvPr id="9" name="footer">
            <a:extLst>
              <a:ext uri="{FF2B5EF4-FFF2-40B4-BE49-F238E27FC236}">
                <a16:creationId xmlns:a16="http://schemas.microsoft.com/office/drawing/2014/main" id="{26F77BD6-8F53-AFCC-B005-6A5E46C3BA65}"/>
              </a:ext>
            </a:extLst>
          </p:cNvPr>
          <p:cNvSpPr>
            <a:spLocks noGrp="1"/>
          </p:cNvSpPr>
          <p:nvPr>
            <p:ph type="ftr" sz="quarter" idx="20"/>
          </p:nvPr>
        </p:nvSpPr>
        <p:spPr>
          <a:xfrm>
            <a:off x="576000" y="12816000"/>
            <a:ext cx="4956176" cy="381000"/>
          </a:xfrm>
        </p:spPr>
        <p:txBody>
          <a:bodyPr/>
          <a:lstStyle/>
          <a:p>
            <a:r>
              <a:t>IBM Confidential</a:t>
            </a:r>
            <a:endParaRPr lang="en-US" dirty="0"/>
          </a:p>
        </p:txBody>
      </p:sp>
      <p:sp>
        <p:nvSpPr>
          <p:cNvPr id="8" name="slide_number">
            <a:extLst>
              <a:ext uri="{FF2B5EF4-FFF2-40B4-BE49-F238E27FC236}">
                <a16:creationId xmlns:a16="http://schemas.microsoft.com/office/drawing/2014/main" id="{E052427A-70AA-F4CA-4D95-12A9702D330F}"/>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p>
            <a:fld id="{86CB4B4D-7CA3-9044-876B-883B54F8677D}" type="slidenum">
              <a:rPr lang="en-US" smtClean="0"/>
              <a:pPr/>
              <a:t>24</a:t>
            </a:fld>
            <a:r>
              <a:t/>
            </a:r>
            <a:endParaRPr lang="en-US" dirty="0"/>
          </a:p>
        </p:txBody>
      </p:sp>
      <p:cxnSp>
        <p:nvCxnSpPr>
          <p:cNvPr id="7" name="divider" descr="Vertical column divider">
            <a:extLst>
              <a:ext uri="{FF2B5EF4-FFF2-40B4-BE49-F238E27FC236}">
                <a16:creationId xmlns:a16="http://schemas.microsoft.com/office/drawing/2014/main" id="{18C396D6-9980-874A-FD6F-02FB8A0A09EE}"/>
              </a:ext>
            </a:extLst>
          </p:cNvPr>
          <p:cNvCxnSpPr>
            <a:cxnSpLocks noGrp="1" noRot="1" noMove="1" noResize="1" noEditPoints="1" noAdjustHandles="1" noChangeArrowheads="1" noChangeShapeType="1"/>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divider" descr="Vertical column divider">
            <a:extLst>
              <a:ext uri="{FF2B5EF4-FFF2-40B4-BE49-F238E27FC236}">
                <a16:creationId xmlns:a16="http://schemas.microsoft.com/office/drawing/2014/main" id="{04931986-2A31-3061-0C31-2094D7AD3250}"/>
              </a:ext>
            </a:extLst>
          </p:cNvPr>
          <p:cNvCxnSpPr>
            <a:cxnSpLocks noGrp="1" noRot="1" noMove="1" noResize="1" noEditPoints="1" noAdjustHandles="1" noChangeArrowheads="1" noChangeShapeType="1"/>
          </p:cNvCxnSpPr>
          <p:nvPr/>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3766102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header">
            <a:extLst>
              <a:ext uri="{FF2B5EF4-FFF2-40B4-BE49-F238E27FC236}">
                <a16:creationId xmlns:a16="http://schemas.microsoft.com/office/drawing/2014/main" id="{914DEA67-E208-B816-9E0B-22F8C3FB9924}"/>
              </a:ext>
            </a:extLst>
          </p:cNvPr>
          <p:cNvSpPr>
            <a:spLocks noGrp="1"/>
          </p:cNvSpPr>
          <p:nvPr>
            <p:ph type="body" sz="quarter" idx="21"/>
          </p:nvPr>
        </p:nvSpPr>
        <p:spPr>
          <a:xfrm>
            <a:off x="576000" y="576072"/>
            <a:ext cx="4961128" cy="462153"/>
          </a:xfrm>
        </p:spPr>
        <p:txBody>
          <a:bodyPr/>
          <a:lstStyle/>
          <a:p>
            <a:r>
              <a:rPr lang="en-US" dirty="0"/>
              <a:t>Six capabilities. One</a:t>
            </a:r>
          </a:p>
        </p:txBody>
      </p:sp>
      <p:sp>
        <p:nvSpPr>
          <p:cNvPr id="2" name="title">
            <a:extLst>
              <a:ext uri="{FF2B5EF4-FFF2-40B4-BE49-F238E27FC236}">
                <a16:creationId xmlns:a16="http://schemas.microsoft.com/office/drawing/2014/main" id="{3AA5A86E-DBFD-4474-4374-028564DCE206}"/>
              </a:ext>
            </a:extLst>
          </p:cNvPr>
          <p:cNvSpPr>
            <a:spLocks noGrp="1"/>
          </p:cNvSpPr>
          <p:nvPr>
            <p:ph type="title"/>
          </p:nvPr>
        </p:nvSpPr>
        <p:spPr>
          <a:xfrm>
            <a:off x="576000" y="1524000"/>
            <a:ext cx="4948428" cy="3048000"/>
          </a:xfrm>
        </p:spPr>
        <p:txBody>
          <a:bodyPr/>
          <a:lstStyle/>
          <a:p>
            <a:r>
              <a:rPr lang="en-US" dirty="0"/>
              <a:t>What UX Reviewer can do</a:t>
            </a:r>
            <a:br>
              <a:rPr lang="en-US" dirty="0"/>
            </a:br>
            <a:r>
              <a:rPr lang="en-US" dirty="0"/>
              <a:t/>
            </a:r>
            <a:br>
              <a:rPr lang="en-US" dirty="0"/>
            </a:br>
            <a:r>
              <a:rPr lang="en-US" dirty="0"/>
              <a:t/>
            </a:r>
          </a:p>
        </p:txBody>
      </p:sp>
      <p:sp>
        <p:nvSpPr>
          <p:cNvPr id="3" name="body_copy_title_01">
            <a:extLst>
              <a:ext uri="{FF2B5EF4-FFF2-40B4-BE49-F238E27FC236}">
                <a16:creationId xmlns:a16="http://schemas.microsoft.com/office/drawing/2014/main" id="{BC1C2404-94BB-C260-075D-3ADE0B6CD1E1}"/>
              </a:ext>
            </a:extLst>
          </p:cNvPr>
          <p:cNvSpPr>
            <a:spLocks noGrp="1"/>
          </p:cNvSpPr>
          <p:nvPr>
            <p:ph type="body" sz="quarter" idx="16"/>
          </p:nvPr>
        </p:nvSpPr>
        <p:spPr>
          <a:xfrm>
            <a:off x="12763628" y="576073"/>
            <a:ext cx="4959222" cy="462152"/>
          </a:xfrm>
        </p:spPr>
        <p:txBody>
          <a:bodyPr/>
          <a:lstStyle/>
          <a:p>
            <a:r>
              <a:rPr lang="en-US" dirty="0">
                <a:solidFill>
                  <a:schemeClr val="accent1"/>
                </a:solidFill>
              </a:rPr>
              <a:t>C1 — Figma compliance</a:t>
            </a:r>
          </a:p>
        </p:txBody>
      </p:sp>
      <p:sp>
        <p:nvSpPr>
          <p:cNvPr id="9" name="footer">
            <a:extLst>
              <a:ext uri="{FF2B5EF4-FFF2-40B4-BE49-F238E27FC236}">
                <a16:creationId xmlns:a16="http://schemas.microsoft.com/office/drawing/2014/main" id="{1DD854A0-670B-1C98-A279-E1038F35AA51}"/>
              </a:ext>
            </a:extLst>
          </p:cNvPr>
          <p:cNvSpPr>
            <a:spLocks noGrp="1"/>
          </p:cNvSpPr>
          <p:nvPr>
            <p:ph type="ftr" sz="quarter" idx="22"/>
          </p:nvPr>
        </p:nvSpPr>
        <p:spPr>
          <a:xfrm>
            <a:off x="576000" y="12816000"/>
            <a:ext cx="4956176" cy="381000"/>
          </a:xfrm>
        </p:spPr>
        <p:txBody>
          <a:bodyPr/>
          <a:lstStyle/>
          <a:p>
            <a:r>
              <a:t>IBM Confidential</a:t>
            </a:r>
            <a:endParaRPr lang="en-US" dirty="0"/>
          </a:p>
        </p:txBody>
      </p:sp>
      <p:sp>
        <p:nvSpPr>
          <p:cNvPr id="8" name="slide_number">
            <a:extLst>
              <a:ext uri="{FF2B5EF4-FFF2-40B4-BE49-F238E27FC236}">
                <a16:creationId xmlns:a16="http://schemas.microsoft.com/office/drawing/2014/main" id="{881561E3-3C9C-B240-6626-16BB37AE5557}"/>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p>
            <a:fld id="{86CB4B4D-7CA3-9044-876B-883B54F8677D}" type="slidenum">
              <a:rPr lang="en-US" smtClean="0"/>
              <a:pPr/>
              <a:t>28</a:t>
            </a:fld>
            <a:r>
              <a:t/>
            </a:r>
            <a:endParaRPr lang="en-US" dirty="0"/>
          </a:p>
        </p:txBody>
      </p:sp>
      <p:cxnSp>
        <p:nvCxnSpPr>
          <p:cNvPr id="10" name="divider" descr="Horizontal row divider">
            <a:extLst>
              <a:ext uri="{FF2B5EF4-FFF2-40B4-BE49-F238E27FC236}">
                <a16:creationId xmlns:a16="http://schemas.microsoft.com/office/drawing/2014/main" id="{0F94ABCB-98A1-F62A-244D-02BE4738FC16}"/>
              </a:ext>
              <a:ext uri="{C183D7F6-B498-43B3-948B-1728B52AA6E4}">
                <adec:decorative xmlns:adec="http://schemas.microsoft.com/office/drawing/2017/decorative" val="0"/>
              </a:ext>
            </a:extLst>
          </p:cNvPr>
          <p:cNvCxnSpPr>
            <a:cxnSpLocks noGrp="1" noRot="1" noMove="1" noResize="1" noEditPoints="1" noAdjustHandles="1" noChangeArrowheads="1" noChangeShapeType="1"/>
          </p:cNvCxnSpPr>
          <p:nvPr/>
        </p:nvCxnSpPr>
        <p:spPr bwMode="auto">
          <a:xfrm>
            <a:off x="12192000" y="6099175"/>
            <a:ext cx="1162202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divider" descr="Vertical column divider">
            <a:extLst>
              <a:ext uri="{FF2B5EF4-FFF2-40B4-BE49-F238E27FC236}">
                <a16:creationId xmlns:a16="http://schemas.microsoft.com/office/drawing/2014/main" id="{284234B1-791E-7E2F-D12A-3340C6CEC3C8}"/>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divider" descr="Vertical column divider">
            <a:extLst>
              <a:ext uri="{FF2B5EF4-FFF2-40B4-BE49-F238E27FC236}">
                <a16:creationId xmlns:a16="http://schemas.microsoft.com/office/drawing/2014/main" id="{E2ADE9F6-CB29-5E43-B4EB-44886D157240}"/>
              </a:ext>
            </a:extLst>
          </p:cNvPr>
          <p:cNvCxnSpPr>
            <a:cxnSpLocks noGrp="1" noRot="1" noMove="1" noResize="1" noEditPoints="1" noAdjustHandles="1" noChangeArrowheads="1" noChangeShapeType="1"/>
          </p:cNvCxnSpPr>
          <p:nvPr/>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body_copy_01">
            <a:extLst>
              <a:ext uri="{FF2B5EF4-FFF2-40B4-BE49-F238E27FC236}">
                <a16:creationId xmlns:a16="http://schemas.microsoft.com/office/drawing/2014/main" id="{CB6C2455-18EA-3236-D5F9-FCD9BA5BA7EE}"/>
              </a:ext>
            </a:extLst>
          </p:cNvPr>
          <p:cNvSpPr txBox="1">
            <a:spLocks/>
          </p:cNvSpPr>
          <p:nvPr/>
        </p:nvSpPr>
        <p:spPr>
          <a:xfrm>
            <a:off x="12763628" y="1520826"/>
            <a:ext cx="4952872" cy="40036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Identify carbon vs. custom components. flag wrong variants. name the correct carbon alternative.</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p>
        </p:txBody>
      </p:sp>
      <p:sp>
        <p:nvSpPr>
          <p:cNvPr id="13" name="body_copy_title_02">
            <a:extLst>
              <a:ext uri="{FF2B5EF4-FFF2-40B4-BE49-F238E27FC236}">
                <a16:creationId xmlns:a16="http://schemas.microsoft.com/office/drawing/2014/main" id="{9D300420-B27A-B1D2-A2C1-611495D1DAE2}"/>
              </a:ext>
            </a:extLst>
          </p:cNvPr>
          <p:cNvSpPr txBox="1">
            <a:spLocks/>
          </p:cNvSpPr>
          <p:nvPr/>
        </p:nvSpPr>
        <p:spPr>
          <a:xfrm>
            <a:off x="18859502" y="570103"/>
            <a:ext cx="4945062" cy="4621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C2 — Token audit</a:t>
            </a:r>
          </a:p>
        </p:txBody>
      </p:sp>
      <p:sp>
        <p:nvSpPr>
          <p:cNvPr id="14" name="body_copy_02">
            <a:extLst>
              <a:ext uri="{FF2B5EF4-FFF2-40B4-BE49-F238E27FC236}">
                <a16:creationId xmlns:a16="http://schemas.microsoft.com/office/drawing/2014/main" id="{C2D18C27-8CE8-FDA1-FCF7-A90101833C77}"/>
              </a:ext>
            </a:extLst>
          </p:cNvPr>
          <p:cNvSpPr txBox="1">
            <a:spLocks/>
          </p:cNvSpPr>
          <p:nvPr/>
        </p:nvSpPr>
        <p:spPr>
          <a:xfrm>
            <a:off x="18859502" y="1514856"/>
            <a:ext cx="4945062" cy="40036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Detect hardcoded hex and px values per node. name the carbon token that should replace each.</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p>
        </p:txBody>
      </p:sp>
      <p:sp>
        <p:nvSpPr>
          <p:cNvPr id="25" name="body_copy_title_04">
            <a:extLst>
              <a:ext uri="{FF2B5EF4-FFF2-40B4-BE49-F238E27FC236}">
                <a16:creationId xmlns:a16="http://schemas.microsoft.com/office/drawing/2014/main" id="{E88130A5-2E00-9028-7EC0-5C039575DEDF}"/>
              </a:ext>
            </a:extLst>
          </p:cNvPr>
          <p:cNvSpPr txBox="1">
            <a:spLocks/>
          </p:cNvSpPr>
          <p:nvPr/>
        </p:nvSpPr>
        <p:spPr>
          <a:xfrm>
            <a:off x="18859500" y="6679821"/>
            <a:ext cx="4945062" cy="4621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C4–C6 — Delta + ticket</a:t>
            </a:r>
          </a:p>
        </p:txBody>
      </p:sp>
      <p:sp>
        <p:nvSpPr>
          <p:cNvPr id="26" name="body_copy_04">
            <a:extLst>
              <a:ext uri="{FF2B5EF4-FFF2-40B4-BE49-F238E27FC236}">
                <a16:creationId xmlns:a16="http://schemas.microsoft.com/office/drawing/2014/main" id="{76CAA2EA-C41D-7E8D-20D8-D35F18CE7CB5}"/>
              </a:ext>
            </a:extLst>
          </p:cNvPr>
          <p:cNvSpPr txBox="1">
            <a:spLocks/>
          </p:cNvSpPr>
          <p:nvPr/>
        </p:nvSpPr>
        <p:spPr>
          <a:xfrm>
            <a:off x="18859500" y="7624574"/>
            <a:ext cx="4945062" cy="40036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Compare figma vs. implementation. generate a structured report. auto-create a Jira ticket.</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p>
        </p:txBody>
      </p:sp>
      <p:sp>
        <p:nvSpPr>
          <p:cNvPr id="27" name="body_copy_title_03">
            <a:extLst>
              <a:ext uri="{FF2B5EF4-FFF2-40B4-BE49-F238E27FC236}">
                <a16:creationId xmlns:a16="http://schemas.microsoft.com/office/drawing/2014/main" id="{9586EF41-C831-D34B-9B45-7B6571D6CF53}"/>
              </a:ext>
            </a:extLst>
          </p:cNvPr>
          <p:cNvSpPr txBox="1">
            <a:spLocks/>
          </p:cNvSpPr>
          <p:nvPr/>
        </p:nvSpPr>
        <p:spPr>
          <a:xfrm>
            <a:off x="12763628" y="6679821"/>
            <a:ext cx="4945062" cy="4621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C3 — Code compliance</a:t>
            </a:r>
          </a:p>
        </p:txBody>
      </p:sp>
      <p:sp>
        <p:nvSpPr>
          <p:cNvPr id="28" name="body_copy_03">
            <a:extLst>
              <a:ext uri="{FF2B5EF4-FFF2-40B4-BE49-F238E27FC236}">
                <a16:creationId xmlns:a16="http://schemas.microsoft.com/office/drawing/2014/main" id="{ABD7F8F6-B06C-C221-1CC6-4D4486F25545}"/>
              </a:ext>
            </a:extLst>
          </p:cNvPr>
          <p:cNvSpPr txBox="1">
            <a:spLocks/>
          </p:cNvSpPr>
          <p:nvPr/>
        </p:nvSpPr>
        <p:spPr>
          <a:xfrm>
            <a:off x="12763628" y="7624574"/>
            <a:ext cx="4945062" cy="40036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Scan imports and SCSS for non-Carbon components and hardcoded values. Suggest replacements.</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p>
        </p:txBody>
      </p:sp>
    </p:spTree>
    <p:extLst>
      <p:ext uri="{BB962C8B-B14F-4D97-AF65-F5344CB8AC3E}">
        <p14:creationId xmlns:p14="http://schemas.microsoft.com/office/powerpoint/2010/main" val="2616807747"/>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75BB14F-E027-AD4A-B94F-B46F7A4C0BB5}"/>
              </a:ext>
            </a:extLst>
          </p:cNvPr>
          <p:cNvSpPr>
            <a:spLocks noGrp="1"/>
          </p:cNvSpPr>
          <p:nvPr>
            <p:ph type="title"/>
          </p:nvPr>
        </p:nvSpPr>
        <p:spPr>
          <a:xfrm>
            <a:off x="576000" y="576072"/>
            <a:ext cx="4949825" cy="3995928"/>
          </a:xfrm>
        </p:spPr>
        <p:txBody>
          <a:bodyPr/>
          <a:lstStyle/>
          <a:p>
            <a:r>
              <a:rPr lang="en-US" dirty="0"/>
              <a:t>Five tools cover parts of the problem — but none covers it for Carbon</a:t>
            </a:r>
          </a:p>
        </p:txBody>
      </p:sp>
      <p:sp>
        <p:nvSpPr>
          <p:cNvPr id="9" name="footer">
            <a:extLst>
              <a:ext uri="{FF2B5EF4-FFF2-40B4-BE49-F238E27FC236}">
                <a16:creationId xmlns:a16="http://schemas.microsoft.com/office/drawing/2014/main" id="{9EA6BC34-56CE-A7CE-939E-3B33F415629F}"/>
              </a:ext>
            </a:extLst>
          </p:cNvPr>
          <p:cNvSpPr>
            <a:spLocks noGrp="1"/>
          </p:cNvSpPr>
          <p:nvPr>
            <p:ph type="ftr" sz="quarter" idx="22"/>
          </p:nvPr>
        </p:nvSpPr>
        <p:spPr>
          <a:xfrm>
            <a:off x="576000" y="12816000"/>
            <a:ext cx="4956176" cy="381000"/>
          </a:xfrm>
        </p:spPr>
        <p:txBody>
          <a:bodyPr/>
          <a:lstStyle/>
          <a:p>
            <a:r>
              <a:t>IBM Confidential</a:t>
            </a:r>
            <a:endParaRPr lang="en-US" dirty="0"/>
          </a:p>
        </p:txBody>
      </p:sp>
      <p:sp>
        <p:nvSpPr>
          <p:cNvPr id="11" name="slide_number">
            <a:extLst>
              <a:ext uri="{FF2B5EF4-FFF2-40B4-BE49-F238E27FC236}">
                <a16:creationId xmlns:a16="http://schemas.microsoft.com/office/drawing/2014/main" id="{159423CD-D821-23C0-A869-C7B937916AB6}"/>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p>
            <a:fld id="{86CB4B4D-7CA3-9044-876B-883B54F8677D}" type="slidenum">
              <a:rPr lang="en-US" smtClean="0"/>
              <a:pPr/>
              <a:t>36</a:t>
            </a:fld>
            <a:r>
              <a:t/>
            </a:r>
            <a:endParaRPr lang="en-US" dirty="0"/>
          </a:p>
        </p:txBody>
      </p:sp>
      <p:cxnSp>
        <p:nvCxnSpPr>
          <p:cNvPr id="13" name="divider" descr="Vertical column divider">
            <a:extLst>
              <a:ext uri="{FF2B5EF4-FFF2-40B4-BE49-F238E27FC236}">
                <a16:creationId xmlns:a16="http://schemas.microsoft.com/office/drawing/2014/main" id="{0A1FC618-5F1A-2B5D-EE07-198B43896724}"/>
              </a:ext>
              <a:ext uri="{C183D7F6-B498-43B3-948B-1728B52AA6E4}">
                <adec:decorative xmlns:adec="http://schemas.microsoft.com/office/drawing/2017/decorative" val="0"/>
              </a:ext>
            </a:extLst>
          </p:cNvPr>
          <p:cNvCxnSpPr>
            <a:cxnSpLocks noGrp="1" noRot="1" noMove="1" noResize="1" noEditPoints="1" noAdjustHandles="1" noChangeArrowheads="1" noChangeShapeType="1"/>
          </p:cNvCxnSpPr>
          <p:nvPr/>
        </p:nvCxnSpPr>
        <p:spPr bwMode="auto">
          <a:xfrm>
            <a:off x="6096000"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divider" descr="Vertical column divider">
            <a:extLst>
              <a:ext uri="{FF2B5EF4-FFF2-40B4-BE49-F238E27FC236}">
                <a16:creationId xmlns:a16="http://schemas.microsoft.com/office/drawing/2014/main" id="{83660264-F372-0C70-A868-BBE1B9120123}"/>
              </a:ext>
              <a:ext uri="{C183D7F6-B498-43B3-948B-1728B52AA6E4}">
                <adec:decorative xmlns:adec="http://schemas.microsoft.com/office/drawing/2017/decorative" val="0"/>
              </a:ext>
            </a:extLst>
          </p:cNvPr>
          <p:cNvCxnSpPr>
            <a:cxnSpLocks noGrp="1" noRot="1" noMove="1" noResize="1" noEditPoints="1" noAdjustHandles="1" noChangeArrowheads="1" noChangeShapeType="1"/>
          </p:cNvCxnSpPr>
          <p:nvPr/>
        </p:nvCxnSpPr>
        <p:spPr bwMode="auto">
          <a:xfrm>
            <a:off x="12188952" y="566928"/>
            <a:ext cx="0" cy="1162824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divider" descr="Vertical column divider">
            <a:extLst>
              <a:ext uri="{FF2B5EF4-FFF2-40B4-BE49-F238E27FC236}">
                <a16:creationId xmlns:a16="http://schemas.microsoft.com/office/drawing/2014/main" id="{32E1F10B-84A4-D1CF-97C8-33416C0D7F38}"/>
              </a:ext>
              <a:ext uri="{C183D7F6-B498-43B3-948B-1728B52AA6E4}">
                <adec:decorative xmlns:adec="http://schemas.microsoft.com/office/drawing/2017/decorative" val="0"/>
              </a:ext>
            </a:extLst>
          </p:cNvPr>
          <p:cNvCxnSpPr>
            <a:cxnSpLocks noGrp="1" noRot="1" noMove="1" noResize="1" noEditPoints="1" noAdjustHandles="1" noChangeArrowheads="1" noChangeShapeType="1"/>
          </p:cNvCxnSpPr>
          <p:nvPr/>
        </p:nvCxnSpPr>
        <p:spPr bwMode="auto">
          <a:xfrm>
            <a:off x="18288000"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divider" descr="Horizontal row divider">
            <a:extLst>
              <a:ext uri="{FF2B5EF4-FFF2-40B4-BE49-F238E27FC236}">
                <a16:creationId xmlns:a16="http://schemas.microsoft.com/office/drawing/2014/main" id="{7C7047D2-6E81-B507-EF57-648E688410D8}"/>
              </a:ext>
              <a:ext uri="{C183D7F6-B498-43B3-948B-1728B52AA6E4}">
                <adec:decorative xmlns:adec="http://schemas.microsoft.com/office/drawing/2017/decorative" val="0"/>
              </a:ext>
            </a:extLst>
          </p:cNvPr>
          <p:cNvCxnSpPr>
            <a:cxnSpLocks noGrp="1" noRot="1" noMove="1" noResize="1" noEditPoints="1" noAdjustHandles="1" noChangeArrowheads="1" noChangeShapeType="1"/>
          </p:cNvCxnSpPr>
          <p:nvPr/>
        </p:nvCxnSpPr>
        <p:spPr bwMode="auto">
          <a:xfrm>
            <a:off x="6096000" y="6096000"/>
            <a:ext cx="1770856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7" name="body_copy_title_02">
            <a:extLst>
              <a:ext uri="{FF2B5EF4-FFF2-40B4-BE49-F238E27FC236}">
                <a16:creationId xmlns:a16="http://schemas.microsoft.com/office/drawing/2014/main" id="{B479F60E-F84C-1A2E-1A3A-84B9EA1155F8}"/>
              </a:ext>
            </a:extLst>
          </p:cNvPr>
          <p:cNvSpPr txBox="1">
            <a:spLocks/>
          </p:cNvSpPr>
          <p:nvPr/>
        </p:nvSpPr>
        <p:spPr>
          <a:xfrm>
            <a:off x="12763628" y="576073"/>
            <a:ext cx="4959222" cy="4621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Chromatic</a:t>
            </a:r>
          </a:p>
        </p:txBody>
      </p:sp>
      <p:sp>
        <p:nvSpPr>
          <p:cNvPr id="28" name="body_copy_02">
            <a:extLst>
              <a:ext uri="{FF2B5EF4-FFF2-40B4-BE49-F238E27FC236}">
                <a16:creationId xmlns:a16="http://schemas.microsoft.com/office/drawing/2014/main" id="{3A0A017E-31ED-5177-824D-7055F59F66BE}"/>
              </a:ext>
            </a:extLst>
          </p:cNvPr>
          <p:cNvSpPr txBox="1">
            <a:spLocks/>
          </p:cNvSpPr>
          <p:nvPr/>
        </p:nvSpPr>
        <p:spPr>
          <a:xfrm>
            <a:off x="12763628" y="1520826"/>
            <a:ext cx="4952872" cy="40036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Visual regression CI gate. blocks PR on pixel-level changes. cannot distinguish carbon button from a custom look-alike. not carbon-aware.</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p>
        </p:txBody>
      </p:sp>
      <p:sp>
        <p:nvSpPr>
          <p:cNvPr id="29" name="body_copy_title_03">
            <a:extLst>
              <a:ext uri="{FF2B5EF4-FFF2-40B4-BE49-F238E27FC236}">
                <a16:creationId xmlns:a16="http://schemas.microsoft.com/office/drawing/2014/main" id="{5FDC926D-FFB1-DD79-224D-FBB18E4EF30E}"/>
              </a:ext>
            </a:extLst>
          </p:cNvPr>
          <p:cNvSpPr txBox="1">
            <a:spLocks/>
          </p:cNvSpPr>
          <p:nvPr/>
        </p:nvSpPr>
        <p:spPr>
          <a:xfrm>
            <a:off x="18859502" y="570103"/>
            <a:ext cx="4945062" cy="4621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Supernova</a:t>
            </a:r>
          </a:p>
        </p:txBody>
      </p:sp>
      <p:sp>
        <p:nvSpPr>
          <p:cNvPr id="30" name="body_copy_03">
            <a:extLst>
              <a:ext uri="{FF2B5EF4-FFF2-40B4-BE49-F238E27FC236}">
                <a16:creationId xmlns:a16="http://schemas.microsoft.com/office/drawing/2014/main" id="{ADD190B6-97F4-A846-2499-BF19134AF80E}"/>
              </a:ext>
            </a:extLst>
          </p:cNvPr>
          <p:cNvSpPr txBox="1">
            <a:spLocks/>
          </p:cNvSpPr>
          <p:nvPr/>
        </p:nvSpPr>
        <p:spPr>
          <a:xfrm>
            <a:off x="18859502" y="1514856"/>
            <a:ext cx="4945062" cy="40036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Design system management with code adoption tracking (enterprise). framework-agnostic — does not flag specific carbon violations in a branch.</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p>
        </p:txBody>
      </p:sp>
      <p:sp>
        <p:nvSpPr>
          <p:cNvPr id="31" name="body_copy_title_06">
            <a:extLst>
              <a:ext uri="{FF2B5EF4-FFF2-40B4-BE49-F238E27FC236}">
                <a16:creationId xmlns:a16="http://schemas.microsoft.com/office/drawing/2014/main" id="{D4ABE93B-1A85-2EF4-76BD-7FC866186C08}"/>
              </a:ext>
            </a:extLst>
          </p:cNvPr>
          <p:cNvSpPr txBox="1">
            <a:spLocks/>
          </p:cNvSpPr>
          <p:nvPr/>
        </p:nvSpPr>
        <p:spPr>
          <a:xfrm>
            <a:off x="18859500" y="6679821"/>
            <a:ext cx="4945062" cy="4621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The gap</a:t>
            </a:r>
          </a:p>
        </p:txBody>
      </p:sp>
      <p:sp>
        <p:nvSpPr>
          <p:cNvPr id="32" name="body_copy_06">
            <a:extLst>
              <a:ext uri="{FF2B5EF4-FFF2-40B4-BE49-F238E27FC236}">
                <a16:creationId xmlns:a16="http://schemas.microsoft.com/office/drawing/2014/main" id="{53311CCD-0306-8FFE-BE11-1375674E9D6C}"/>
              </a:ext>
            </a:extLst>
          </p:cNvPr>
          <p:cNvSpPr txBox="1">
            <a:spLocks/>
          </p:cNvSpPr>
          <p:nvPr/>
        </p:nvSpPr>
        <p:spPr>
          <a:xfrm>
            <a:off x="18859500" y="7624574"/>
            <a:ext cx="4945062" cy="40036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All five tools are design-system-agnostic. none ships with carbon rules pre-loaded. none integrates figma + code + Jira in one workflow.</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p>
        </p:txBody>
      </p:sp>
      <p:sp>
        <p:nvSpPr>
          <p:cNvPr id="33" name="body_copy_title_05">
            <a:extLst>
              <a:ext uri="{FF2B5EF4-FFF2-40B4-BE49-F238E27FC236}">
                <a16:creationId xmlns:a16="http://schemas.microsoft.com/office/drawing/2014/main" id="{AA280DEC-FF5E-30CD-A267-396DF6BC11AB}"/>
              </a:ext>
            </a:extLst>
          </p:cNvPr>
          <p:cNvSpPr txBox="1">
            <a:spLocks/>
          </p:cNvSpPr>
          <p:nvPr/>
        </p:nvSpPr>
        <p:spPr>
          <a:xfrm>
            <a:off x="12763628" y="6679821"/>
            <a:ext cx="4945062" cy="4621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Zeroheight</a:t>
            </a:r>
          </a:p>
        </p:txBody>
      </p:sp>
      <p:sp>
        <p:nvSpPr>
          <p:cNvPr id="34" name="body_copy_05">
            <a:extLst>
              <a:ext uri="{FF2B5EF4-FFF2-40B4-BE49-F238E27FC236}">
                <a16:creationId xmlns:a16="http://schemas.microsoft.com/office/drawing/2014/main" id="{4FE6C752-A485-B753-C33B-2D3F27AD5916}"/>
              </a:ext>
            </a:extLst>
          </p:cNvPr>
          <p:cNvSpPr txBox="1">
            <a:spLocks/>
          </p:cNvSpPr>
          <p:nvPr/>
        </p:nvSpPr>
        <p:spPr>
          <a:xfrm>
            <a:off x="12763628" y="7624574"/>
            <a:ext cx="4945062" cy="40036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Living design system documentation with MCP. Adoption measured at doc-page level, not code level. No compliance checking.</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p>
        </p:txBody>
      </p:sp>
      <p:sp>
        <p:nvSpPr>
          <p:cNvPr id="35" name="body_copy_title_04">
            <a:extLst>
              <a:ext uri="{FF2B5EF4-FFF2-40B4-BE49-F238E27FC236}">
                <a16:creationId xmlns:a16="http://schemas.microsoft.com/office/drawing/2014/main" id="{7032C9E3-86C1-9395-F581-AAE817B8FEDF}"/>
              </a:ext>
            </a:extLst>
          </p:cNvPr>
          <p:cNvSpPr txBox="1">
            <a:spLocks/>
          </p:cNvSpPr>
          <p:nvPr/>
        </p:nvSpPr>
        <p:spPr>
          <a:xfrm>
            <a:off x="6682986" y="6679821"/>
            <a:ext cx="4945062" cy="4621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Tokens Studio</a:t>
            </a:r>
          </a:p>
        </p:txBody>
      </p:sp>
      <p:sp>
        <p:nvSpPr>
          <p:cNvPr id="36" name="body_copy_04">
            <a:extLst>
              <a:ext uri="{FF2B5EF4-FFF2-40B4-BE49-F238E27FC236}">
                <a16:creationId xmlns:a16="http://schemas.microsoft.com/office/drawing/2014/main" id="{EE961C4F-9715-B34E-28B6-D6A2D5C80001}"/>
              </a:ext>
            </a:extLst>
          </p:cNvPr>
          <p:cNvSpPr txBox="1">
            <a:spLocks/>
          </p:cNvSpPr>
          <p:nvPr/>
        </p:nvSpPr>
        <p:spPr>
          <a:xfrm>
            <a:off x="6682986" y="7624574"/>
            <a:ext cx="4945062" cy="40036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Figma-to-code token pipeline. ensures tokens exist in the codebase. cannot detect whether a developer bypassed them with a hardcoded value.</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p>
        </p:txBody>
      </p:sp>
      <p:sp>
        <p:nvSpPr>
          <p:cNvPr id="37" name="body_copy_title_01">
            <a:extLst>
              <a:ext uri="{FF2B5EF4-FFF2-40B4-BE49-F238E27FC236}">
                <a16:creationId xmlns:a16="http://schemas.microsoft.com/office/drawing/2014/main" id="{0E478DD7-F34D-BB29-7432-CFDE70E8965D}"/>
              </a:ext>
            </a:extLst>
          </p:cNvPr>
          <p:cNvSpPr txBox="1">
            <a:spLocks/>
          </p:cNvSpPr>
          <p:nvPr/>
        </p:nvSpPr>
        <p:spPr>
          <a:xfrm>
            <a:off x="6682986" y="563753"/>
            <a:ext cx="4959222" cy="4621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FigmaLint</a:t>
            </a:r>
          </a:p>
        </p:txBody>
      </p:sp>
      <p:sp>
        <p:nvSpPr>
          <p:cNvPr id="38" name="body_copy_01">
            <a:extLst>
              <a:ext uri="{FF2B5EF4-FFF2-40B4-BE49-F238E27FC236}">
                <a16:creationId xmlns:a16="http://schemas.microsoft.com/office/drawing/2014/main" id="{5DE07C6D-2310-1959-744F-2166345D28BB}"/>
              </a:ext>
            </a:extLst>
          </p:cNvPr>
          <p:cNvSpPr txBox="1">
            <a:spLocks/>
          </p:cNvSpPr>
          <p:nvPr/>
        </p:nvSpPr>
        <p:spPr>
          <a:xfrm>
            <a:off x="6682986" y="1508506"/>
            <a:ext cx="4952872" cy="40036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AI token &amp; component audit inside figma. detects hardcoded values pre-handoff. figma-only — no code inspection, no carbon knowledge.</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p>
        </p:txBody>
      </p:sp>
    </p:spTree>
    <p:extLst>
      <p:ext uri="{BB962C8B-B14F-4D97-AF65-F5344CB8AC3E}">
        <p14:creationId xmlns:p14="http://schemas.microsoft.com/office/powerpoint/2010/main" val="3440815371"/>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78E557B-4778-558E-214E-2CA96173ABFB}"/>
              </a:ext>
            </a:extLst>
          </p:cNvPr>
          <p:cNvSpPr>
            <a:spLocks noGrp="1"/>
          </p:cNvSpPr>
          <p:nvPr>
            <p:ph type="title"/>
          </p:nvPr>
        </p:nvSpPr>
        <p:spPr>
          <a:xfrm>
            <a:off x="576000" y="576071"/>
            <a:ext cx="4949825" cy="2468753"/>
          </a:xfrm>
        </p:spPr>
        <p:txBody>
          <a:bodyPr/>
          <a:lstStyle/>
          <a:p>
            <a:r>
              <a:rPr lang="en-US" dirty="0"/>
              <a:t/>
            </a:r>
          </a:p>
        </p:txBody>
      </p:sp>
      <p:sp>
        <p:nvSpPr>
          <p:cNvPr id="4" name="footer">
            <a:extLst>
              <a:ext uri="{FF2B5EF4-FFF2-40B4-BE49-F238E27FC236}">
                <a16:creationId xmlns:a16="http://schemas.microsoft.com/office/drawing/2014/main" id="{6833E0BC-472C-8D4D-5EEF-7483ED0BCA78}"/>
              </a:ext>
            </a:extLst>
          </p:cNvPr>
          <p:cNvSpPr>
            <a:spLocks noGrp="1"/>
          </p:cNvSpPr>
          <p:nvPr>
            <p:ph type="ftr" sz="quarter" idx="12"/>
          </p:nvPr>
        </p:nvSpPr>
        <p:spPr>
          <a:xfrm>
            <a:off x="576000" y="12816000"/>
            <a:ext cx="4956176" cy="381000"/>
          </a:xfrm>
        </p:spPr>
        <p:txBody>
          <a:bodyPr/>
          <a:lstStyle/>
          <a:p>
            <a:r>
              <a:t>IBM Confidential</a:t>
            </a:r>
            <a:endParaRPr lang="en-US" dirty="0"/>
          </a:p>
        </p:txBody>
      </p:sp>
      <p:sp>
        <p:nvSpPr>
          <p:cNvPr id="3" name="slide_number">
            <a:extLst>
              <a:ext uri="{FF2B5EF4-FFF2-40B4-BE49-F238E27FC236}">
                <a16:creationId xmlns:a16="http://schemas.microsoft.com/office/drawing/2014/main" id="{F3BE8036-037D-5BB3-CE38-5AFD2388CACD}"/>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p>
            <a:fld id="{86CB4B4D-7CA3-9044-876B-883B54F8677D}" type="slidenum">
              <a:rPr lang="en-US" smtClean="0"/>
              <a:pPr/>
              <a:t>47</a:t>
            </a:fld>
            <a:r>
              <a:t/>
            </a:r>
            <a:endParaRPr lang="en-US" dirty="0"/>
          </a:p>
        </p:txBody>
      </p:sp>
    </p:spTree>
    <p:extLst>
      <p:ext uri="{BB962C8B-B14F-4D97-AF65-F5344CB8AC3E}">
        <p14:creationId xmlns:p14="http://schemas.microsoft.com/office/powerpoint/2010/main" val="3515325406"/>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8185256"/>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8555A89-31D3-C769-71AD-38E9ADC2B454}"/>
              </a:ext>
            </a:extLst>
          </p:cNvPr>
          <p:cNvSpPr>
            <a:spLocks noGrp="1"/>
          </p:cNvSpPr>
          <p:nvPr>
            <p:ph type="title"/>
          </p:nvPr>
        </p:nvSpPr>
        <p:spPr>
          <a:xfrm>
            <a:off x="576000" y="384048"/>
            <a:ext cx="11042913" cy="2663825"/>
          </a:xfrm>
        </p:spPr>
        <p:txBody>
          <a:bodyPr/>
          <a:lstStyle/>
          <a:p>
            <a:r>
              <a:rPr lang="en-US" dirty="0"/>
              <a:t>02  What we heard — research</a:t>
            </a:r>
            <a:br>
              <a:rPr lang="en-US" dirty="0"/>
            </a:br>
            <a:r>
              <a:rPr lang="en-US" dirty="0"/>
              <a:t/>
            </a:r>
          </a:p>
        </p:txBody>
      </p:sp>
      <p:sp>
        <p:nvSpPr>
          <p:cNvPr id="9" name="slide_number">
            <a:extLst>
              <a:ext uri="{FF2B5EF4-FFF2-40B4-BE49-F238E27FC236}">
                <a16:creationId xmlns:a16="http://schemas.microsoft.com/office/drawing/2014/main" id="{41794889-6D85-5EF1-D228-19EEF3359F33}"/>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lvl1pPr>
              <a:defRPr>
                <a:solidFill>
                  <a:schemeClr val="tx1"/>
                </a:solidFill>
              </a:defRPr>
            </a:lvl1pPr>
          </a:lstStyle>
          <a:p>
            <a:fld id="{59395FB3-9C97-154F-86B2-7E381B951268}" type="slidenum">
              <a:rPr lang="en-US" smtClean="0"/>
              <a:pPr/>
              <a:t>6</a:t>
            </a:fld>
            <a:r>
              <a:t/>
            </a:r>
            <a:endParaRPr lang="en-US" dirty="0"/>
          </a:p>
        </p:txBody>
      </p:sp>
      <p:sp>
        <p:nvSpPr>
          <p:cNvPr id="4" name="footer">
            <a:extLst>
              <a:ext uri="{FF2B5EF4-FFF2-40B4-BE49-F238E27FC236}">
                <a16:creationId xmlns:a16="http://schemas.microsoft.com/office/drawing/2014/main" id="{758058FD-55FE-14C2-54F7-4C716F103C00}"/>
              </a:ext>
            </a:extLst>
          </p:cNvPr>
          <p:cNvSpPr>
            <a:spLocks noGrp="1"/>
          </p:cNvSpPr>
          <p:nvPr>
            <p:ph type="ftr" sz="quarter" idx="18"/>
          </p:nvPr>
        </p:nvSpPr>
        <p:spPr>
          <a:xfrm>
            <a:off x="576000" y="12816000"/>
            <a:ext cx="4956176" cy="381000"/>
          </a:xfrm>
        </p:spPr>
        <p:txBody>
          <a:bodyPr/>
          <a:lstStyle/>
          <a:p>
            <a:r>
              <a:t>IBM Confidential</a:t>
            </a:r>
            <a:endParaRPr lang="en-US" dirty="0"/>
          </a:p>
        </p:txBody>
      </p:sp>
    </p:spTree>
    <p:extLst>
      <p:ext uri="{BB962C8B-B14F-4D97-AF65-F5344CB8AC3E}">
        <p14:creationId xmlns:p14="http://schemas.microsoft.com/office/powerpoint/2010/main" val="2484813651"/>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EC4870F-2BCD-D032-E9C3-B54F5E7578F6}"/>
              </a:ext>
            </a:extLst>
          </p:cNvPr>
          <p:cNvSpPr>
            <a:spLocks noGrp="1"/>
          </p:cNvSpPr>
          <p:nvPr>
            <p:ph type="title"/>
          </p:nvPr>
        </p:nvSpPr>
        <p:spPr>
          <a:xfrm>
            <a:off x="576000" y="576071"/>
            <a:ext cx="4949825" cy="2468753"/>
          </a:xfrm>
        </p:spPr>
        <p:txBody>
          <a:bodyPr/>
          <a:lstStyle/>
          <a:p>
            <a:r>
              <a:rPr lang="en-US" dirty="0"/>
              <a:t>What designers told us</a:t>
            </a:r>
          </a:p>
        </p:txBody>
      </p:sp>
      <p:sp>
        <p:nvSpPr>
          <p:cNvPr id="13" name="body_copy_title_01">
            <a:extLst>
              <a:ext uri="{FF2B5EF4-FFF2-40B4-BE49-F238E27FC236}">
                <a16:creationId xmlns:a16="http://schemas.microsoft.com/office/drawing/2014/main" id="{D9F0A87D-C393-66AC-9BA1-53B784734EB6}"/>
              </a:ext>
            </a:extLst>
          </p:cNvPr>
          <p:cNvSpPr>
            <a:spLocks noGrp="1"/>
          </p:cNvSpPr>
          <p:nvPr>
            <p:ph type="body" sz="quarter" idx="15"/>
          </p:nvPr>
        </p:nvSpPr>
        <p:spPr>
          <a:xfrm>
            <a:off x="6667500" y="576072"/>
            <a:ext cx="4956175" cy="1843037"/>
          </a:xfrm>
        </p:spPr>
        <p:txBody>
          <a:bodyPr/>
          <a:lstStyle/>
          <a:p>
            <a:r>
              <a:rPr lang="en-US" dirty="0"/>
              <a:t>Custom components create debt</a:t>
            </a:r>
          </a:p>
        </p:txBody>
      </p:sp>
      <p:sp>
        <p:nvSpPr>
          <p:cNvPr id="10" name="body_copy_01">
            <a:extLst>
              <a:ext uri="{FF2B5EF4-FFF2-40B4-BE49-F238E27FC236}">
                <a16:creationId xmlns:a16="http://schemas.microsoft.com/office/drawing/2014/main" id="{01F55476-4EB8-A992-DE96-B2C94F109447}"/>
              </a:ext>
            </a:extLst>
          </p:cNvPr>
          <p:cNvSpPr>
            <a:spLocks noGrp="1"/>
          </p:cNvSpPr>
          <p:nvPr>
            <p:ph type="body" sz="quarter" idx="12"/>
          </p:nvPr>
        </p:nvSpPr>
        <p:spPr>
          <a:xfrm>
            <a:off x="6667500" y="3047999"/>
            <a:ext cx="4951413" cy="9156701"/>
          </a:xfrm>
        </p:spPr>
        <p:txBody>
          <a:bodyPr/>
          <a:lstStyle/>
          <a:p>
            <a:r>
              <a:rPr lang="en-US" dirty="0"/>
              <a:t>Components built during past migrations are now orphaned — no carbon owner, full maintenance burden on the product team. accessibility failures become the team's liability.</a:t>
            </a:r>
            <a:br>
              <a:rPr lang="en-US" dirty="0"/>
            </a:br>
            <a:r>
              <a:rPr lang="en-US" dirty="0"/>
              <a:t/>
            </a:r>
          </a:p>
        </p:txBody>
      </p:sp>
      <p:sp>
        <p:nvSpPr>
          <p:cNvPr id="14" name="body_copy_title_02">
            <a:extLst>
              <a:ext uri="{FF2B5EF4-FFF2-40B4-BE49-F238E27FC236}">
                <a16:creationId xmlns:a16="http://schemas.microsoft.com/office/drawing/2014/main" id="{77BBAE63-9F0F-1CB2-8DF3-3050E5DC1C91}"/>
              </a:ext>
            </a:extLst>
          </p:cNvPr>
          <p:cNvSpPr>
            <a:spLocks noGrp="1"/>
          </p:cNvSpPr>
          <p:nvPr>
            <p:ph type="body" sz="quarter" idx="16"/>
          </p:nvPr>
        </p:nvSpPr>
        <p:spPr>
          <a:xfrm>
            <a:off x="12780000" y="576072"/>
            <a:ext cx="4953000" cy="1843037"/>
          </a:xfrm>
        </p:spPr>
        <p:txBody>
          <a:bodyPr/>
          <a:lstStyle/>
          <a:p>
            <a:r>
              <a:rPr lang="en-US" dirty="0"/>
              <a:t>Handoff gaps cause rework</a:t>
            </a:r>
          </a:p>
        </p:txBody>
      </p:sp>
      <p:sp>
        <p:nvSpPr>
          <p:cNvPr id="11" name="body_copy_02">
            <a:extLst>
              <a:ext uri="{FF2B5EF4-FFF2-40B4-BE49-F238E27FC236}">
                <a16:creationId xmlns:a16="http://schemas.microsoft.com/office/drawing/2014/main" id="{194A0A48-021E-1C1D-F152-2ACF467EE3DC}"/>
              </a:ext>
            </a:extLst>
          </p:cNvPr>
          <p:cNvSpPr>
            <a:spLocks noGrp="1"/>
          </p:cNvSpPr>
          <p:nvPr>
            <p:ph type="body" sz="quarter" idx="13"/>
          </p:nvPr>
        </p:nvSpPr>
        <p:spPr>
          <a:xfrm>
            <a:off x="12780000" y="3048000"/>
            <a:ext cx="4953000" cy="9156700"/>
          </a:xfrm>
        </p:spPr>
        <p:txBody>
          <a:bodyPr/>
          <a:lstStyle/>
          <a:p>
            <a:r>
              <a:rPr lang="en-US" dirty="0"/>
              <a:t>Designers forget to flag broken components verbally. developers search for a non-existent carbon component and build something incorrect. rework cycles follow every feature.</a:t>
            </a:r>
          </a:p>
        </p:txBody>
      </p:sp>
      <p:sp>
        <p:nvSpPr>
          <p:cNvPr id="15" name="body_copy_title_03">
            <a:extLst>
              <a:ext uri="{FF2B5EF4-FFF2-40B4-BE49-F238E27FC236}">
                <a16:creationId xmlns:a16="http://schemas.microsoft.com/office/drawing/2014/main" id="{3A1D768E-B75F-C675-F3FD-0F753840647E}"/>
              </a:ext>
            </a:extLst>
          </p:cNvPr>
          <p:cNvSpPr>
            <a:spLocks noGrp="1"/>
          </p:cNvSpPr>
          <p:nvPr>
            <p:ph type="body" sz="quarter" idx="17"/>
          </p:nvPr>
        </p:nvSpPr>
        <p:spPr>
          <a:xfrm>
            <a:off x="18859500" y="576072"/>
            <a:ext cx="4959350" cy="1843037"/>
          </a:xfrm>
        </p:spPr>
        <p:txBody>
          <a:bodyPr/>
          <a:lstStyle/>
          <a:p>
            <a:r>
              <a:rPr lang="en-US" dirty="0"/>
              <a:t>Review is late and labour-intensive</a:t>
            </a:r>
          </a:p>
        </p:txBody>
      </p:sp>
      <p:sp>
        <p:nvSpPr>
          <p:cNvPr id="12" name="body_copy_03">
            <a:extLst>
              <a:ext uri="{FF2B5EF4-FFF2-40B4-BE49-F238E27FC236}">
                <a16:creationId xmlns:a16="http://schemas.microsoft.com/office/drawing/2014/main" id="{CB3E6BAC-ECC3-54A5-48D5-DCFE8C6C92D9}"/>
              </a:ext>
            </a:extLst>
          </p:cNvPr>
          <p:cNvSpPr>
            <a:spLocks noGrp="1"/>
          </p:cNvSpPr>
          <p:nvPr>
            <p:ph type="body" sz="quarter" idx="14"/>
          </p:nvPr>
        </p:nvSpPr>
        <p:spPr>
          <a:xfrm>
            <a:off x="18859500" y="3048000"/>
            <a:ext cx="4959350" cy="9156700"/>
          </a:xfrm>
        </p:spPr>
        <p:txBody>
          <a:bodyPr/>
          <a:lstStyle/>
          <a:p>
            <a:r>
              <a:rPr lang="en-US" dirty="0"/>
              <a:t>Animesh: 'I spent 2 hours annotating changes, then waited 2 weeks for implementation, then reviewed again.' Without a formal gate, design drift accumulates silently and is caught too late.</a:t>
            </a:r>
          </a:p>
        </p:txBody>
      </p:sp>
      <p:sp>
        <p:nvSpPr>
          <p:cNvPr id="17" name="slide_number">
            <a:extLst>
              <a:ext uri="{FF2B5EF4-FFF2-40B4-BE49-F238E27FC236}">
                <a16:creationId xmlns:a16="http://schemas.microsoft.com/office/drawing/2014/main" id="{58CF5833-585E-7519-E029-64D6A13E3E02}"/>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p>
            <a:fld id="{86CB4B4D-7CA3-9044-876B-883B54F8677D}" type="slidenum">
              <a:rPr lang="en-US" smtClean="0"/>
              <a:pPr/>
              <a:t>17</a:t>
            </a:fld>
            <a:r>
              <a:t/>
            </a:r>
            <a:endParaRPr lang="en-US" dirty="0"/>
          </a:p>
        </p:txBody>
      </p:sp>
      <p:sp>
        <p:nvSpPr>
          <p:cNvPr id="4" name="footer">
            <a:extLst>
              <a:ext uri="{FF2B5EF4-FFF2-40B4-BE49-F238E27FC236}">
                <a16:creationId xmlns:a16="http://schemas.microsoft.com/office/drawing/2014/main" id="{ED38F0F3-1FEC-5ABD-2108-62F2A88F1CD3}"/>
              </a:ext>
            </a:extLst>
          </p:cNvPr>
          <p:cNvSpPr>
            <a:spLocks noGrp="1"/>
          </p:cNvSpPr>
          <p:nvPr>
            <p:ph type="ftr" sz="quarter" idx="18"/>
          </p:nvPr>
        </p:nvSpPr>
        <p:spPr>
          <a:xfrm>
            <a:off x="576000" y="12816000"/>
            <a:ext cx="4956176" cy="381000"/>
          </a:xfrm>
        </p:spPr>
        <p:txBody>
          <a:bodyPr/>
          <a:lstStyle/>
          <a:p>
            <a:r>
              <a:t>IBM Confidential</a:t>
            </a:r>
            <a:endParaRPr lang="en-US" dirty="0"/>
          </a:p>
        </p:txBody>
      </p:sp>
    </p:spTree>
    <p:extLst>
      <p:ext uri="{BB962C8B-B14F-4D97-AF65-F5344CB8AC3E}">
        <p14:creationId xmlns:p14="http://schemas.microsoft.com/office/powerpoint/2010/main" val="3006677375"/>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0D374C6-6622-EAD6-AF33-02B2061061A5}"/>
              </a:ext>
            </a:extLst>
          </p:cNvPr>
          <p:cNvSpPr>
            <a:spLocks noGrp="1"/>
          </p:cNvSpPr>
          <p:nvPr>
            <p:ph type="title"/>
          </p:nvPr>
        </p:nvSpPr>
        <p:spPr>
          <a:xfrm>
            <a:off x="576000" y="384048"/>
            <a:ext cx="9909175" cy="4184269"/>
          </a:xfrm>
        </p:spPr>
        <p:txBody>
          <a:bodyPr/>
          <a:lstStyle/>
          <a:p>
            <a:r>
              <a:rPr lang="en-US" dirty="0"/>
              <a:t>The PR gate model works</a:t>
            </a:r>
            <a:br>
              <a:rPr lang="en-US" dirty="0"/>
            </a:br>
            <a:r>
              <a:rPr lang="en-US" dirty="0"/>
              <a:t/>
            </a:r>
            <a:br>
              <a:rPr lang="en-US" dirty="0"/>
            </a:br>
            <a:r>
              <a:rPr lang="en-US" dirty="0"/>
              <a:t/>
            </a:r>
          </a:p>
        </p:txBody>
      </p:sp>
      <p:sp>
        <p:nvSpPr>
          <p:cNvPr id="3" name="quote">
            <a:extLst>
              <a:ext uri="{FF2B5EF4-FFF2-40B4-BE49-F238E27FC236}">
                <a16:creationId xmlns:a16="http://schemas.microsoft.com/office/drawing/2014/main" id="{3AEA1201-23DA-79C3-771B-5D327E6B4A76}"/>
              </a:ext>
            </a:extLst>
          </p:cNvPr>
          <p:cNvSpPr>
            <a:spLocks noGrp="1"/>
          </p:cNvSpPr>
          <p:nvPr>
            <p:ph type="body" sz="quarter" idx="10"/>
          </p:nvPr>
        </p:nvSpPr>
        <p:spPr>
          <a:xfrm>
            <a:off x="12439759" y="384048"/>
            <a:ext cx="11042073" cy="7235952"/>
          </a:xfrm>
        </p:spPr>
        <p:txBody>
          <a:bodyPr/>
          <a:lstStyle/>
          <a:p>
            <a:pPr marL="381000" indent="-381000">
              <a:lnSpc>
                <a:spcPct val="100000"/>
              </a:lnSpc>
              <a:spcBef>
                <a:spcPts val="0"/>
              </a:spcBef>
            </a:pPr>
            <a:r>
              <a:rPr lang="en-US" dirty="0"/>
              <a:t>“Unless you approve, it can’t get merged — so they will get pulled up for it. So they will do it fast so that you review it.”</a:t>
            </a:r>
            <a:r>
              <a:rPr lang="en-US" dirty="0">
                <a:solidFill>
                  <a:schemeClr val="tx1"/>
                </a:solidFill>
              </a:rPr>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endParaRPr lang="en-US" sz="2800" dirty="0"/>
          </a:p>
        </p:txBody>
      </p:sp>
      <p:sp>
        <p:nvSpPr>
          <p:cNvPr id="5" name="slide_number">
            <a:extLst>
              <a:ext uri="{FF2B5EF4-FFF2-40B4-BE49-F238E27FC236}">
                <a16:creationId xmlns:a16="http://schemas.microsoft.com/office/drawing/2014/main" id="{F99D30BA-A01D-314D-AAA5-0209F97AE92E}"/>
              </a:ext>
            </a:extLst>
          </p:cNvPr>
          <p:cNvSpPr>
            <a:spLocks noGrp="1"/>
          </p:cNvSpPr>
          <p:nvPr>
            <p:ph type="sldNum" sz="quarter" idx="4"/>
          </p:nvPr>
        </p:nvSpPr>
        <p:spPr>
          <a:xfrm>
            <a:off x="23541592" y="12951538"/>
            <a:ext cx="270908" cy="246221"/>
          </a:xfrm>
        </p:spPr>
        <p:txBody>
          <a:bodyPr/>
          <a:lstStyle>
            <a:lvl1pPr>
              <a:defRPr>
                <a:solidFill>
                  <a:schemeClr val="tx1"/>
                </a:solidFill>
              </a:defRPr>
            </a:lvl1pPr>
          </a:lstStyle>
          <a:p>
            <a:fld id="{59395FB3-9C97-154F-86B2-7E381B951268}" type="slidenum">
              <a:rPr lang="en-US" smtClean="0"/>
              <a:pPr/>
              <a:t>8</a:t>
            </a:fld>
            <a:r>
              <a:t/>
            </a:r>
            <a:endParaRPr lang="en-US" dirty="0"/>
          </a:p>
        </p:txBody>
      </p:sp>
      <p:sp>
        <p:nvSpPr>
          <p:cNvPr id="10" name="footer">
            <a:extLst>
              <a:ext uri="{FF2B5EF4-FFF2-40B4-BE49-F238E27FC236}">
                <a16:creationId xmlns:a16="http://schemas.microsoft.com/office/drawing/2014/main" id="{C6178C44-34F3-E916-F226-5BD35B9DFC3C}"/>
              </a:ext>
            </a:extLst>
          </p:cNvPr>
          <p:cNvSpPr>
            <a:spLocks noGrp="1"/>
          </p:cNvSpPr>
          <p:nvPr>
            <p:ph type="ftr" sz="quarter" idx="18"/>
          </p:nvPr>
        </p:nvSpPr>
        <p:spPr>
          <a:xfrm>
            <a:off x="576000" y="12816000"/>
            <a:ext cx="4956176" cy="381000"/>
          </a:xfrm>
        </p:spPr>
        <p:txBody>
          <a:bodyPr/>
          <a:lstStyle/>
          <a:p>
            <a:r>
              <a:t>IBM Confidential</a:t>
            </a:r>
            <a:endParaRPr lang="en-US" dirty="0"/>
          </a:p>
        </p:txBody>
      </p:sp>
      <p:sp>
        <p:nvSpPr>
          <p:cNvPr id="4" name="quote_name">
            <a:extLst>
              <a:ext uri="{FF2B5EF4-FFF2-40B4-BE49-F238E27FC236}">
                <a16:creationId xmlns:a16="http://schemas.microsoft.com/office/drawing/2014/main" id="{C8CC491E-7895-00C6-E810-8F981ACA1582}"/>
              </a:ext>
            </a:extLst>
          </p:cNvPr>
          <p:cNvSpPr txBox="1">
            <a:spLocks/>
          </p:cNvSpPr>
          <p:nvPr/>
        </p:nvSpPr>
        <p:spPr>
          <a:xfrm>
            <a:off x="12771437" y="7620000"/>
            <a:ext cx="11041063" cy="571500"/>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2800" kern="0" dirty="0"/>
              <a:t>Diya susan joseph — designer, IBM API management</a:t>
            </a:r>
          </a:p>
        </p:txBody>
      </p:sp>
    </p:spTree>
    <p:extLst>
      <p:ext uri="{BB962C8B-B14F-4D97-AF65-F5344CB8AC3E}">
        <p14:creationId xmlns:p14="http://schemas.microsoft.com/office/powerpoint/2010/main" val="3609196393"/>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8555A89-31D3-C769-71AD-38E9ADC2B454}"/>
              </a:ext>
            </a:extLst>
          </p:cNvPr>
          <p:cNvSpPr>
            <a:spLocks noGrp="1"/>
          </p:cNvSpPr>
          <p:nvPr>
            <p:ph type="title"/>
          </p:nvPr>
        </p:nvSpPr>
        <p:spPr>
          <a:xfrm>
            <a:off x="576000" y="384048"/>
            <a:ext cx="11042913" cy="2663825"/>
          </a:xfrm>
        </p:spPr>
        <p:txBody>
          <a:bodyPr/>
          <a:lstStyle/>
          <a:p>
            <a:r>
              <a:rPr lang="en-US" dirty="0"/>
              <a:t>03  What the market offers</a:t>
            </a:r>
            <a:br>
              <a:rPr lang="en-US" dirty="0"/>
            </a:br>
            <a:r>
              <a:rPr lang="en-US" dirty="0"/>
              <a:t/>
            </a:r>
          </a:p>
        </p:txBody>
      </p:sp>
      <p:sp>
        <p:nvSpPr>
          <p:cNvPr id="9" name="slide_number">
            <a:extLst>
              <a:ext uri="{FF2B5EF4-FFF2-40B4-BE49-F238E27FC236}">
                <a16:creationId xmlns:a16="http://schemas.microsoft.com/office/drawing/2014/main" id="{41794889-6D85-5EF1-D228-19EEF3359F33}"/>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lvl1pPr>
              <a:defRPr>
                <a:solidFill>
                  <a:schemeClr val="tx1"/>
                </a:solidFill>
              </a:defRPr>
            </a:lvl1pPr>
          </a:lstStyle>
          <a:p>
            <a:fld id="{59395FB3-9C97-154F-86B2-7E381B951268}" type="slidenum">
              <a:rPr lang="en-US" smtClean="0"/>
              <a:pPr/>
              <a:t>6</a:t>
            </a:fld>
            <a:r>
              <a:t/>
            </a:r>
            <a:endParaRPr lang="en-US" dirty="0"/>
          </a:p>
        </p:txBody>
      </p:sp>
      <p:sp>
        <p:nvSpPr>
          <p:cNvPr id="4" name="footer">
            <a:extLst>
              <a:ext uri="{FF2B5EF4-FFF2-40B4-BE49-F238E27FC236}">
                <a16:creationId xmlns:a16="http://schemas.microsoft.com/office/drawing/2014/main" id="{758058FD-55FE-14C2-54F7-4C716F103C00}"/>
              </a:ext>
            </a:extLst>
          </p:cNvPr>
          <p:cNvSpPr>
            <a:spLocks noGrp="1"/>
          </p:cNvSpPr>
          <p:nvPr>
            <p:ph type="ftr" sz="quarter" idx="18"/>
          </p:nvPr>
        </p:nvSpPr>
        <p:spPr>
          <a:xfrm>
            <a:off x="576000" y="12816000"/>
            <a:ext cx="4956176" cy="381000"/>
          </a:xfrm>
        </p:spPr>
        <p:txBody>
          <a:bodyPr/>
          <a:lstStyle/>
          <a:p>
            <a:r>
              <a:t>IBM Confidential</a:t>
            </a:r>
            <a:endParaRPr lang="en-US" dirty="0"/>
          </a:p>
        </p:txBody>
      </p:sp>
    </p:spTree>
    <p:extLst>
      <p:ext uri="{BB962C8B-B14F-4D97-AF65-F5344CB8AC3E}">
        <p14:creationId xmlns:p14="http://schemas.microsoft.com/office/powerpoint/2010/main" val="2484813651"/>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75BB14F-E027-AD4A-B94F-B46F7A4C0BB5}"/>
              </a:ext>
            </a:extLst>
          </p:cNvPr>
          <p:cNvSpPr>
            <a:spLocks noGrp="1"/>
          </p:cNvSpPr>
          <p:nvPr>
            <p:ph type="title"/>
          </p:nvPr>
        </p:nvSpPr>
        <p:spPr>
          <a:xfrm>
            <a:off x="576000" y="576072"/>
            <a:ext cx="4949825" cy="3995928"/>
          </a:xfrm>
        </p:spPr>
        <p:txBody>
          <a:bodyPr/>
          <a:lstStyle/>
          <a:p>
            <a:r>
              <a:rPr lang="en-US" dirty="0"/>
              <a:t>Six gaps no market tool addresses</a:t>
            </a:r>
          </a:p>
        </p:txBody>
      </p:sp>
      <p:sp>
        <p:nvSpPr>
          <p:cNvPr id="9" name="footer">
            <a:extLst>
              <a:ext uri="{FF2B5EF4-FFF2-40B4-BE49-F238E27FC236}">
                <a16:creationId xmlns:a16="http://schemas.microsoft.com/office/drawing/2014/main" id="{9EA6BC34-56CE-A7CE-939E-3B33F415629F}"/>
              </a:ext>
            </a:extLst>
          </p:cNvPr>
          <p:cNvSpPr>
            <a:spLocks noGrp="1"/>
          </p:cNvSpPr>
          <p:nvPr>
            <p:ph type="ftr" sz="quarter" idx="22"/>
          </p:nvPr>
        </p:nvSpPr>
        <p:spPr>
          <a:xfrm>
            <a:off x="576000" y="12816000"/>
            <a:ext cx="4956176" cy="381000"/>
          </a:xfrm>
        </p:spPr>
        <p:txBody>
          <a:bodyPr/>
          <a:lstStyle/>
          <a:p>
            <a:r>
              <a:t>IBM Confidential</a:t>
            </a:r>
            <a:endParaRPr lang="en-US" dirty="0"/>
          </a:p>
        </p:txBody>
      </p:sp>
      <p:sp>
        <p:nvSpPr>
          <p:cNvPr id="11" name="slide_number">
            <a:extLst>
              <a:ext uri="{FF2B5EF4-FFF2-40B4-BE49-F238E27FC236}">
                <a16:creationId xmlns:a16="http://schemas.microsoft.com/office/drawing/2014/main" id="{159423CD-D821-23C0-A869-C7B937916AB6}"/>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p>
            <a:fld id="{86CB4B4D-7CA3-9044-876B-883B54F8677D}" type="slidenum">
              <a:rPr lang="en-US" smtClean="0"/>
              <a:pPr/>
              <a:t>36</a:t>
            </a:fld>
            <a:r>
              <a:t/>
            </a:r>
            <a:endParaRPr lang="en-US" dirty="0"/>
          </a:p>
        </p:txBody>
      </p:sp>
      <p:cxnSp>
        <p:nvCxnSpPr>
          <p:cNvPr id="13" name="divider" descr="Vertical column divider">
            <a:extLst>
              <a:ext uri="{FF2B5EF4-FFF2-40B4-BE49-F238E27FC236}">
                <a16:creationId xmlns:a16="http://schemas.microsoft.com/office/drawing/2014/main" id="{0A1FC618-5F1A-2B5D-EE07-198B43896724}"/>
              </a:ext>
              <a:ext uri="{C183D7F6-B498-43B3-948B-1728B52AA6E4}">
                <adec:decorative xmlns:adec="http://schemas.microsoft.com/office/drawing/2017/decorative" val="0"/>
              </a:ext>
            </a:extLst>
          </p:cNvPr>
          <p:cNvCxnSpPr>
            <a:cxnSpLocks noGrp="1" noRot="1" noMove="1" noResize="1" noEditPoints="1" noAdjustHandles="1" noChangeArrowheads="1" noChangeShapeType="1"/>
          </p:cNvCxnSpPr>
          <p:nvPr/>
        </p:nvCxnSpPr>
        <p:spPr bwMode="auto">
          <a:xfrm>
            <a:off x="6096000"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divider" descr="Vertical column divider">
            <a:extLst>
              <a:ext uri="{FF2B5EF4-FFF2-40B4-BE49-F238E27FC236}">
                <a16:creationId xmlns:a16="http://schemas.microsoft.com/office/drawing/2014/main" id="{83660264-F372-0C70-A868-BBE1B9120123}"/>
              </a:ext>
              <a:ext uri="{C183D7F6-B498-43B3-948B-1728B52AA6E4}">
                <adec:decorative xmlns:adec="http://schemas.microsoft.com/office/drawing/2017/decorative" val="0"/>
              </a:ext>
            </a:extLst>
          </p:cNvPr>
          <p:cNvCxnSpPr>
            <a:cxnSpLocks noGrp="1" noRot="1" noMove="1" noResize="1" noEditPoints="1" noAdjustHandles="1" noChangeArrowheads="1" noChangeShapeType="1"/>
          </p:cNvCxnSpPr>
          <p:nvPr/>
        </p:nvCxnSpPr>
        <p:spPr bwMode="auto">
          <a:xfrm>
            <a:off x="12188952" y="566928"/>
            <a:ext cx="0" cy="1162824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divider" descr="Vertical column divider">
            <a:extLst>
              <a:ext uri="{FF2B5EF4-FFF2-40B4-BE49-F238E27FC236}">
                <a16:creationId xmlns:a16="http://schemas.microsoft.com/office/drawing/2014/main" id="{32E1F10B-84A4-D1CF-97C8-33416C0D7F38}"/>
              </a:ext>
              <a:ext uri="{C183D7F6-B498-43B3-948B-1728B52AA6E4}">
                <adec:decorative xmlns:adec="http://schemas.microsoft.com/office/drawing/2017/decorative" val="0"/>
              </a:ext>
            </a:extLst>
          </p:cNvPr>
          <p:cNvCxnSpPr>
            <a:cxnSpLocks noGrp="1" noRot="1" noMove="1" noResize="1" noEditPoints="1" noAdjustHandles="1" noChangeArrowheads="1" noChangeShapeType="1"/>
          </p:cNvCxnSpPr>
          <p:nvPr/>
        </p:nvCxnSpPr>
        <p:spPr bwMode="auto">
          <a:xfrm>
            <a:off x="18288000"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divider" descr="Horizontal row divider">
            <a:extLst>
              <a:ext uri="{FF2B5EF4-FFF2-40B4-BE49-F238E27FC236}">
                <a16:creationId xmlns:a16="http://schemas.microsoft.com/office/drawing/2014/main" id="{7C7047D2-6E81-B507-EF57-648E688410D8}"/>
              </a:ext>
              <a:ext uri="{C183D7F6-B498-43B3-948B-1728B52AA6E4}">
                <adec:decorative xmlns:adec="http://schemas.microsoft.com/office/drawing/2017/decorative" val="0"/>
              </a:ext>
            </a:extLst>
          </p:cNvPr>
          <p:cNvCxnSpPr>
            <a:cxnSpLocks noGrp="1" noRot="1" noMove="1" noResize="1" noEditPoints="1" noAdjustHandles="1" noChangeArrowheads="1" noChangeShapeType="1"/>
          </p:cNvCxnSpPr>
          <p:nvPr/>
        </p:nvCxnSpPr>
        <p:spPr bwMode="auto">
          <a:xfrm>
            <a:off x="6096000" y="6096000"/>
            <a:ext cx="1770856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7" name="body_copy_title_02">
            <a:extLst>
              <a:ext uri="{FF2B5EF4-FFF2-40B4-BE49-F238E27FC236}">
                <a16:creationId xmlns:a16="http://schemas.microsoft.com/office/drawing/2014/main" id="{B479F60E-F84C-1A2E-1A3A-84B9EA1155F8}"/>
              </a:ext>
            </a:extLst>
          </p:cNvPr>
          <p:cNvSpPr txBox="1">
            <a:spLocks/>
          </p:cNvSpPr>
          <p:nvPr/>
        </p:nvSpPr>
        <p:spPr>
          <a:xfrm>
            <a:off x="12763628" y="576073"/>
            <a:ext cx="4959222" cy="4621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G2 — Wrong components</a:t>
            </a:r>
          </a:p>
        </p:txBody>
      </p:sp>
      <p:sp>
        <p:nvSpPr>
          <p:cNvPr id="28" name="body_copy_02">
            <a:extLst>
              <a:ext uri="{FF2B5EF4-FFF2-40B4-BE49-F238E27FC236}">
                <a16:creationId xmlns:a16="http://schemas.microsoft.com/office/drawing/2014/main" id="{3A0A017E-31ED-5177-824D-7055F59F66BE}"/>
              </a:ext>
            </a:extLst>
          </p:cNvPr>
          <p:cNvSpPr txBox="1">
            <a:spLocks/>
          </p:cNvSpPr>
          <p:nvPr/>
        </p:nvSpPr>
        <p:spPr>
          <a:xfrm>
            <a:off x="12763628" y="1520826"/>
            <a:ext cx="4952872" cy="40036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No tool flags a primeng component and names the carbon web component replacement.</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p>
        </p:txBody>
      </p:sp>
      <p:sp>
        <p:nvSpPr>
          <p:cNvPr id="29" name="body_copy_title_03">
            <a:extLst>
              <a:ext uri="{FF2B5EF4-FFF2-40B4-BE49-F238E27FC236}">
                <a16:creationId xmlns:a16="http://schemas.microsoft.com/office/drawing/2014/main" id="{5FDC926D-FFB1-DD79-224D-FBB18E4EF30E}"/>
              </a:ext>
            </a:extLst>
          </p:cNvPr>
          <p:cNvSpPr txBox="1">
            <a:spLocks/>
          </p:cNvSpPr>
          <p:nvPr/>
        </p:nvSpPr>
        <p:spPr>
          <a:xfrm>
            <a:off x="18859502" y="570103"/>
            <a:ext cx="4945062" cy="4621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G3 — Carbon PR gate</a:t>
            </a:r>
          </a:p>
        </p:txBody>
      </p:sp>
      <p:sp>
        <p:nvSpPr>
          <p:cNvPr id="30" name="body_copy_03">
            <a:extLst>
              <a:ext uri="{FF2B5EF4-FFF2-40B4-BE49-F238E27FC236}">
                <a16:creationId xmlns:a16="http://schemas.microsoft.com/office/drawing/2014/main" id="{ADD190B6-97F4-A846-2499-BF19134AF80E}"/>
              </a:ext>
            </a:extLst>
          </p:cNvPr>
          <p:cNvSpPr txBox="1">
            <a:spLocks/>
          </p:cNvSpPr>
          <p:nvPr/>
        </p:nvSpPr>
        <p:spPr>
          <a:xfrm>
            <a:off x="18859502" y="1514856"/>
            <a:ext cx="4945062" cy="40036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Chromatic blocks on visual regression only. No tool blocks on Carbon compliance.</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p>
        </p:txBody>
      </p:sp>
      <p:sp>
        <p:nvSpPr>
          <p:cNvPr id="31" name="body_copy_title_06">
            <a:extLst>
              <a:ext uri="{FF2B5EF4-FFF2-40B4-BE49-F238E27FC236}">
                <a16:creationId xmlns:a16="http://schemas.microsoft.com/office/drawing/2014/main" id="{D4ABE93B-1A85-2EF4-76BD-7FC866186C08}"/>
              </a:ext>
            </a:extLst>
          </p:cNvPr>
          <p:cNvSpPr txBox="1">
            <a:spLocks/>
          </p:cNvSpPr>
          <p:nvPr/>
        </p:nvSpPr>
        <p:spPr>
          <a:xfrm>
            <a:off x="18859500" y="6679821"/>
            <a:ext cx="4945062" cy="4621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G6 — Carbon rule set</a:t>
            </a:r>
          </a:p>
        </p:txBody>
      </p:sp>
      <p:sp>
        <p:nvSpPr>
          <p:cNvPr id="32" name="body_copy_06">
            <a:extLst>
              <a:ext uri="{FF2B5EF4-FFF2-40B4-BE49-F238E27FC236}">
                <a16:creationId xmlns:a16="http://schemas.microsoft.com/office/drawing/2014/main" id="{53311CCD-0306-8FFE-BE11-1375674E9D6C}"/>
              </a:ext>
            </a:extLst>
          </p:cNvPr>
          <p:cNvSpPr txBox="1">
            <a:spLocks/>
          </p:cNvSpPr>
          <p:nvPr/>
        </p:nvSpPr>
        <p:spPr>
          <a:xfrm>
            <a:off x="18859500" y="7624574"/>
            <a:ext cx="4945062" cy="40036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All five tools are design-system-agnostic. none ships carbon-aware out of the box.</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p>
        </p:txBody>
      </p:sp>
      <p:sp>
        <p:nvSpPr>
          <p:cNvPr id="33" name="body_copy_title_05">
            <a:extLst>
              <a:ext uri="{FF2B5EF4-FFF2-40B4-BE49-F238E27FC236}">
                <a16:creationId xmlns:a16="http://schemas.microsoft.com/office/drawing/2014/main" id="{AA280DEC-FF5E-30CD-A267-396DF6BC11AB}"/>
              </a:ext>
            </a:extLst>
          </p:cNvPr>
          <p:cNvSpPr txBox="1">
            <a:spLocks/>
          </p:cNvSpPr>
          <p:nvPr/>
        </p:nvSpPr>
        <p:spPr>
          <a:xfrm>
            <a:off x="12763628" y="6679821"/>
            <a:ext cx="4945062" cy="4621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G5 — Jira ticket output</a:t>
            </a:r>
          </a:p>
        </p:txBody>
      </p:sp>
      <p:sp>
        <p:nvSpPr>
          <p:cNvPr id="34" name="body_copy_05">
            <a:extLst>
              <a:ext uri="{FF2B5EF4-FFF2-40B4-BE49-F238E27FC236}">
                <a16:creationId xmlns:a16="http://schemas.microsoft.com/office/drawing/2014/main" id="{4FE6C752-A485-B753-C33B-2D3F27AD5916}"/>
              </a:ext>
            </a:extLst>
          </p:cNvPr>
          <p:cNvSpPr txBox="1">
            <a:spLocks/>
          </p:cNvSpPr>
          <p:nvPr/>
        </p:nvSpPr>
        <p:spPr>
          <a:xfrm>
            <a:off x="12763628" y="7624574"/>
            <a:ext cx="4945062" cy="40036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No tool turns compliance findings into a Jira ticket with acceptance criteria.</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p>
        </p:txBody>
      </p:sp>
      <p:sp>
        <p:nvSpPr>
          <p:cNvPr id="35" name="body_copy_title_04">
            <a:extLst>
              <a:ext uri="{FF2B5EF4-FFF2-40B4-BE49-F238E27FC236}">
                <a16:creationId xmlns:a16="http://schemas.microsoft.com/office/drawing/2014/main" id="{7032C9E3-86C1-9395-F581-AAE817B8FEDF}"/>
              </a:ext>
            </a:extLst>
          </p:cNvPr>
          <p:cNvSpPr txBox="1">
            <a:spLocks/>
          </p:cNvSpPr>
          <p:nvPr/>
        </p:nvSpPr>
        <p:spPr>
          <a:xfrm>
            <a:off x="6682986" y="6679821"/>
            <a:ext cx="4945062" cy="4621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G4 — Figma vs. code delta</a:t>
            </a:r>
          </a:p>
        </p:txBody>
      </p:sp>
      <p:sp>
        <p:nvSpPr>
          <p:cNvPr id="36" name="body_copy_04">
            <a:extLst>
              <a:ext uri="{FF2B5EF4-FFF2-40B4-BE49-F238E27FC236}">
                <a16:creationId xmlns:a16="http://schemas.microsoft.com/office/drawing/2014/main" id="{EE961C4F-9715-B34E-28B6-D6A2D5C80001}"/>
              </a:ext>
            </a:extLst>
          </p:cNvPr>
          <p:cNvSpPr txBox="1">
            <a:spLocks/>
          </p:cNvSpPr>
          <p:nvPr/>
        </p:nvSpPr>
        <p:spPr>
          <a:xfrm>
            <a:off x="6682986" y="7624574"/>
            <a:ext cx="4945062" cy="40036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No tool compares what was designed in Figma against what was built in the branch.</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p>
        </p:txBody>
      </p:sp>
      <p:sp>
        <p:nvSpPr>
          <p:cNvPr id="37" name="body_copy_title_01">
            <a:extLst>
              <a:ext uri="{FF2B5EF4-FFF2-40B4-BE49-F238E27FC236}">
                <a16:creationId xmlns:a16="http://schemas.microsoft.com/office/drawing/2014/main" id="{0E478DD7-F34D-BB29-7432-CFDE70E8965D}"/>
              </a:ext>
            </a:extLst>
          </p:cNvPr>
          <p:cNvSpPr txBox="1">
            <a:spLocks/>
          </p:cNvSpPr>
          <p:nvPr/>
        </p:nvSpPr>
        <p:spPr>
          <a:xfrm>
            <a:off x="6682986" y="563753"/>
            <a:ext cx="4959222" cy="4621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solidFill>
              </a:rPr>
              <a:t>G1 — Hardcoded values</a:t>
            </a:r>
          </a:p>
        </p:txBody>
      </p:sp>
      <p:sp>
        <p:nvSpPr>
          <p:cNvPr id="38" name="body_copy_01">
            <a:extLst>
              <a:ext uri="{FF2B5EF4-FFF2-40B4-BE49-F238E27FC236}">
                <a16:creationId xmlns:a16="http://schemas.microsoft.com/office/drawing/2014/main" id="{5DE07C6D-2310-1959-744F-2166345D28BB}"/>
              </a:ext>
            </a:extLst>
          </p:cNvPr>
          <p:cNvSpPr txBox="1">
            <a:spLocks/>
          </p:cNvSpPr>
          <p:nvPr/>
        </p:nvSpPr>
        <p:spPr>
          <a:xfrm>
            <a:off x="6682986" y="1508506"/>
            <a:ext cx="4952872" cy="40036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No tool detects hex/px values in a developer's branch and maps them to the correct Carbon token.</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r>
              <a:rPr lang="en-US" kern="0" dirty="0" err="1"/>
              <a:t/>
            </a:r>
            <a:r>
              <a:rPr lang="en-US" kern="0" dirty="0"/>
              <a:t/>
            </a:r>
          </a:p>
        </p:txBody>
      </p:sp>
    </p:spTree>
    <p:extLst>
      <p:ext uri="{BB962C8B-B14F-4D97-AF65-F5344CB8AC3E}">
        <p14:creationId xmlns:p14="http://schemas.microsoft.com/office/powerpoint/2010/main" val="3440815371"/>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8555A89-31D3-C769-71AD-38E9ADC2B454}"/>
              </a:ext>
            </a:extLst>
          </p:cNvPr>
          <p:cNvSpPr>
            <a:spLocks noGrp="1"/>
          </p:cNvSpPr>
          <p:nvPr>
            <p:ph type="title"/>
          </p:nvPr>
        </p:nvSpPr>
        <p:spPr>
          <a:xfrm>
            <a:off x="576000" y="384048"/>
            <a:ext cx="11042913" cy="2663825"/>
          </a:xfrm>
        </p:spPr>
        <p:txBody>
          <a:bodyPr/>
          <a:lstStyle/>
          <a:p>
            <a:r>
              <a:rPr lang="en-US" dirty="0"/>
              <a:t>04 the solution — UX reviewer</a:t>
            </a:r>
            <a:br>
              <a:rPr lang="en-US" dirty="0"/>
            </a:br>
            <a:r>
              <a:rPr lang="en-US" dirty="0"/>
              <a:t/>
            </a:r>
          </a:p>
        </p:txBody>
      </p:sp>
      <p:sp>
        <p:nvSpPr>
          <p:cNvPr id="9" name="slide_number">
            <a:extLst>
              <a:ext uri="{FF2B5EF4-FFF2-40B4-BE49-F238E27FC236}">
                <a16:creationId xmlns:a16="http://schemas.microsoft.com/office/drawing/2014/main" id="{41794889-6D85-5EF1-D228-19EEF3359F33}"/>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lvl1pPr>
              <a:defRPr>
                <a:solidFill>
                  <a:schemeClr val="tx1"/>
                </a:solidFill>
              </a:defRPr>
            </a:lvl1pPr>
          </a:lstStyle>
          <a:p>
            <a:fld id="{59395FB3-9C97-154F-86B2-7E381B951268}" type="slidenum">
              <a:rPr lang="en-US" smtClean="0"/>
              <a:pPr/>
              <a:t>6</a:t>
            </a:fld>
            <a:r>
              <a:t/>
            </a:r>
            <a:endParaRPr lang="en-US" dirty="0"/>
          </a:p>
        </p:txBody>
      </p:sp>
      <p:sp>
        <p:nvSpPr>
          <p:cNvPr id="4" name="footer">
            <a:extLst>
              <a:ext uri="{FF2B5EF4-FFF2-40B4-BE49-F238E27FC236}">
                <a16:creationId xmlns:a16="http://schemas.microsoft.com/office/drawing/2014/main" id="{758058FD-55FE-14C2-54F7-4C716F103C00}"/>
              </a:ext>
            </a:extLst>
          </p:cNvPr>
          <p:cNvSpPr>
            <a:spLocks noGrp="1"/>
          </p:cNvSpPr>
          <p:nvPr>
            <p:ph type="ftr" sz="quarter" idx="18"/>
          </p:nvPr>
        </p:nvSpPr>
        <p:spPr>
          <a:xfrm>
            <a:off x="576000" y="12816000"/>
            <a:ext cx="4956176" cy="381000"/>
          </a:xfrm>
        </p:spPr>
        <p:txBody>
          <a:bodyPr/>
          <a:lstStyle/>
          <a:p>
            <a:r>
              <a:t>IBM Confidential</a:t>
            </a:r>
            <a:endParaRPr lang="en-US" dirty="0"/>
          </a:p>
        </p:txBody>
      </p:sp>
    </p:spTree>
    <p:extLst>
      <p:ext uri="{BB962C8B-B14F-4D97-AF65-F5344CB8AC3E}">
        <p14:creationId xmlns:p14="http://schemas.microsoft.com/office/powerpoint/2010/main" val="2484813651"/>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g_statement">
            <a:extLst>
              <a:ext uri="{FF2B5EF4-FFF2-40B4-BE49-F238E27FC236}">
                <a16:creationId xmlns:a16="http://schemas.microsoft.com/office/drawing/2014/main" id="{180FC785-4B73-1374-CE3A-190BCF867813}"/>
              </a:ext>
            </a:extLst>
          </p:cNvPr>
          <p:cNvSpPr>
            <a:spLocks noGrp="1"/>
          </p:cNvSpPr>
          <p:nvPr>
            <p:ph type="title"/>
          </p:nvPr>
        </p:nvSpPr>
        <p:spPr>
          <a:xfrm>
            <a:off x="576000" y="309599"/>
            <a:ext cx="20760000" cy="11885575"/>
          </a:xfrm>
        </p:spPr>
        <p:txBody>
          <a:bodyPr/>
          <a:lstStyle/>
          <a:p>
            <a:r>
              <a:rPr lang="en-US" dirty="0"/>
              <a:t>UX Reviewer closes all six gaps — inside Bob, using</a:t>
            </a:r>
            <a:br>
              <a:rPr lang="en-US" dirty="0"/>
            </a:br>
            <a:r>
              <a:rPr lang="en-US" dirty="0"/>
              <a:t/>
            </a:r>
            <a:br>
              <a:rPr lang="en-US" dirty="0"/>
            </a:br>
            <a:r>
              <a:rPr lang="en-US" dirty="0"/>
              <a:t/>
            </a:r>
          </a:p>
        </p:txBody>
      </p:sp>
      <p:sp>
        <p:nvSpPr>
          <p:cNvPr id="8" name="slide_number">
            <a:extLst>
              <a:ext uri="{FF2B5EF4-FFF2-40B4-BE49-F238E27FC236}">
                <a16:creationId xmlns:a16="http://schemas.microsoft.com/office/drawing/2014/main" id="{86C17C2C-13ED-63D8-33F8-B7F8FCF5F4BE}"/>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lvl1pPr>
              <a:defRPr>
                <a:solidFill>
                  <a:schemeClr val="tx1"/>
                </a:solidFill>
              </a:defRPr>
            </a:lvl1pPr>
          </a:lstStyle>
          <a:p>
            <a:fld id="{59395FB3-9C97-154F-86B2-7E381B951268}" type="slidenum">
              <a:rPr lang="en-US" smtClean="0"/>
              <a:pPr/>
              <a:t>7</a:t>
            </a:fld>
            <a:r>
              <a:t/>
            </a:r>
            <a:endParaRPr lang="en-US" dirty="0"/>
          </a:p>
        </p:txBody>
      </p:sp>
      <p:sp>
        <p:nvSpPr>
          <p:cNvPr id="11" name="footer">
            <a:extLst>
              <a:ext uri="{FF2B5EF4-FFF2-40B4-BE49-F238E27FC236}">
                <a16:creationId xmlns:a16="http://schemas.microsoft.com/office/drawing/2014/main" id="{21502530-8BEB-61F0-1909-E5D61BDB1985}"/>
              </a:ext>
            </a:extLst>
          </p:cNvPr>
          <p:cNvSpPr>
            <a:spLocks noGrp="1"/>
          </p:cNvSpPr>
          <p:nvPr>
            <p:ph type="ftr" sz="quarter" idx="18"/>
          </p:nvPr>
        </p:nvSpPr>
        <p:spPr>
          <a:xfrm>
            <a:off x="576000" y="12816000"/>
            <a:ext cx="4956176" cy="381000"/>
          </a:xfrm>
        </p:spPr>
        <p:txBody>
          <a:bodyPr/>
          <a:lstStyle/>
          <a:p>
            <a:r>
              <a:t>IBM Confidential</a:t>
            </a:r>
            <a:endParaRPr lang="en-US" dirty="0"/>
          </a:p>
        </p:txBody>
      </p:sp>
    </p:spTree>
    <p:extLst>
      <p:ext uri="{BB962C8B-B14F-4D97-AF65-F5344CB8AC3E}">
        <p14:creationId xmlns:p14="http://schemas.microsoft.com/office/powerpoint/2010/main" val="2305756176"/>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82AAA82-CFDC-60B5-2162-DE9169C08F6A}"/>
              </a:ext>
            </a:extLst>
          </p:cNvPr>
          <p:cNvSpPr>
            <a:spLocks noGrp="1"/>
          </p:cNvSpPr>
          <p:nvPr>
            <p:ph type="title"/>
          </p:nvPr>
        </p:nvSpPr>
        <p:spPr>
          <a:xfrm>
            <a:off x="576000" y="576072"/>
            <a:ext cx="11042913" cy="1906588"/>
          </a:xfrm>
        </p:spPr>
        <p:txBody>
          <a:bodyPr/>
          <a:lstStyle/>
          <a:p>
            <a:r>
              <a:rPr lang="en-US" dirty="0"/>
              <a:t>The experience — designer</a:t>
            </a:r>
            <a:br>
              <a:rPr lang="en-US" dirty="0"/>
            </a:br>
            <a:r>
              <a:rPr lang="en-US" dirty="0"/>
              <a:t/>
            </a:r>
          </a:p>
        </p:txBody>
      </p:sp>
      <p:sp>
        <p:nvSpPr>
          <p:cNvPr id="3" name="body_copy_01">
            <a:extLst>
              <a:ext uri="{FF2B5EF4-FFF2-40B4-BE49-F238E27FC236}">
                <a16:creationId xmlns:a16="http://schemas.microsoft.com/office/drawing/2014/main" id="{86AC72F0-44AC-8897-BB5A-5B9A1F79A552}"/>
              </a:ext>
            </a:extLst>
          </p:cNvPr>
          <p:cNvSpPr>
            <a:spLocks noGrp="1"/>
          </p:cNvSpPr>
          <p:nvPr>
            <p:ph type="body" sz="quarter" idx="11"/>
          </p:nvPr>
        </p:nvSpPr>
        <p:spPr>
          <a:xfrm>
            <a:off x="576000" y="3047999"/>
            <a:ext cx="10099675" cy="9153524"/>
          </a:xfrm>
        </p:spPr>
        <p:txBody>
          <a:bodyPr/>
          <a:lstStyle/>
          <a:p>
            <a:r>
              <a:rPr lang="en-US" dirty="0"/>
              <a:t>"Review this figma frame for carbon compliance"
→ pastes figma URL
Returns:
Which components are wrong or custom
Which tokens are hardcoded
Which spacing values are off-grid
All findings with Carbon references and severity ratings</a:t>
            </a:r>
          </a:p>
        </p:txBody>
      </p:sp>
      <p:sp>
        <p:nvSpPr>
          <p:cNvPr id="4" name="body_copy_02">
            <a:extLst>
              <a:ext uri="{FF2B5EF4-FFF2-40B4-BE49-F238E27FC236}">
                <a16:creationId xmlns:a16="http://schemas.microsoft.com/office/drawing/2014/main" id="{1420A861-6A4D-FA7D-F08D-8D8F8CD6E5D3}"/>
              </a:ext>
            </a:extLst>
          </p:cNvPr>
          <p:cNvSpPr>
            <a:spLocks noGrp="1"/>
          </p:cNvSpPr>
          <p:nvPr>
            <p:ph type="body" sz="quarter" idx="12"/>
          </p:nvPr>
        </p:nvSpPr>
        <p:spPr>
          <a:xfrm>
            <a:off x="12780000" y="3047999"/>
            <a:ext cx="10096500" cy="9153525"/>
          </a:xfrm>
        </p:spPr>
        <p:txBody>
          <a:bodyPr/>
          <a:lstStyle/>
          <a:p>
            <a:r>
              <a:rPr lang="en-US" dirty="0"/>
              <a:t>No plugins to install
No API keys to manage
No Carbon rules to configure
No separate dashboard or login
Works in the same Bob conversation the team already uses.
Powered by: figma MCP + carbon MCP</a:t>
            </a:r>
          </a:p>
        </p:txBody>
      </p:sp>
      <p:sp>
        <p:nvSpPr>
          <p:cNvPr id="7" name="footer">
            <a:extLst>
              <a:ext uri="{FF2B5EF4-FFF2-40B4-BE49-F238E27FC236}">
                <a16:creationId xmlns:a16="http://schemas.microsoft.com/office/drawing/2014/main" id="{14019FA0-AF71-5184-B3FC-550EF95611EC}"/>
              </a:ext>
            </a:extLst>
          </p:cNvPr>
          <p:cNvSpPr>
            <a:spLocks noGrp="1"/>
          </p:cNvSpPr>
          <p:nvPr>
            <p:ph type="ftr" sz="quarter" idx="18"/>
          </p:nvPr>
        </p:nvSpPr>
        <p:spPr>
          <a:xfrm>
            <a:off x="576000" y="12816000"/>
            <a:ext cx="4956176" cy="381000"/>
          </a:xfrm>
        </p:spPr>
        <p:txBody>
          <a:bodyPr/>
          <a:lstStyle/>
          <a:p>
            <a:r>
              <a:t>IBM Confidential</a:t>
            </a:r>
            <a:endParaRPr lang="en-US" dirty="0"/>
          </a:p>
        </p:txBody>
      </p:sp>
      <p:sp>
        <p:nvSpPr>
          <p:cNvPr id="6" name="slide_number">
            <a:extLst>
              <a:ext uri="{FF2B5EF4-FFF2-40B4-BE49-F238E27FC236}">
                <a16:creationId xmlns:a16="http://schemas.microsoft.com/office/drawing/2014/main" id="{21070B66-2BBA-1AC0-94A3-1D4E1994AFAC}"/>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p>
            <a:fld id="{86CB4B4D-7CA3-9044-876B-883B54F8677D}" type="slidenum">
              <a:rPr lang="en-US" smtClean="0"/>
              <a:pPr/>
              <a:t>22</a:t>
            </a:fld>
            <a:r>
              <a:t/>
            </a:r>
            <a:endParaRPr lang="en-US" dirty="0"/>
          </a:p>
        </p:txBody>
      </p:sp>
    </p:spTree>
    <p:extLst>
      <p:ext uri="{BB962C8B-B14F-4D97-AF65-F5344CB8AC3E}">
        <p14:creationId xmlns:p14="http://schemas.microsoft.com/office/powerpoint/2010/main" val="3182962064"/>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82AAA82-CFDC-60B5-2162-DE9169C08F6A}"/>
              </a:ext>
            </a:extLst>
          </p:cNvPr>
          <p:cNvSpPr>
            <a:spLocks noGrp="1"/>
          </p:cNvSpPr>
          <p:nvPr>
            <p:ph type="title"/>
          </p:nvPr>
        </p:nvSpPr>
        <p:spPr>
          <a:xfrm>
            <a:off x="576000" y="576072"/>
            <a:ext cx="11042913" cy="1906588"/>
          </a:xfrm>
        </p:spPr>
        <p:txBody>
          <a:bodyPr/>
          <a:lstStyle/>
          <a:p>
            <a:r>
              <a:rPr lang="en-US" dirty="0"/>
              <a:t>The experience — developer</a:t>
            </a:r>
            <a:br>
              <a:rPr lang="en-US" dirty="0"/>
            </a:br>
            <a:r>
              <a:rPr lang="en-US" dirty="0"/>
              <a:t/>
            </a:r>
          </a:p>
        </p:txBody>
      </p:sp>
      <p:sp>
        <p:nvSpPr>
          <p:cNvPr id="3" name="body_copy_01">
            <a:extLst>
              <a:ext uri="{FF2B5EF4-FFF2-40B4-BE49-F238E27FC236}">
                <a16:creationId xmlns:a16="http://schemas.microsoft.com/office/drawing/2014/main" id="{86AC72F0-44AC-8897-BB5A-5B9A1F79A552}"/>
              </a:ext>
            </a:extLst>
          </p:cNvPr>
          <p:cNvSpPr>
            <a:spLocks noGrp="1"/>
          </p:cNvSpPr>
          <p:nvPr>
            <p:ph type="body" sz="quarter" idx="11"/>
          </p:nvPr>
        </p:nvSpPr>
        <p:spPr>
          <a:xfrm>
            <a:off x="576000" y="3047999"/>
            <a:ext cx="10099675" cy="9153524"/>
          </a:xfrm>
        </p:spPr>
        <p:txBody>
          <a:bodyPr/>
          <a:lstStyle/>
          <a:p>
            <a:r>
              <a:rPr lang="en-US" dirty="0"/>
              <a:t>"Check my branch for Carbon compliance"
Returns:
Non-Carbon imports — with Carbon replacement named
Hardcoded SCSS values — with correct Carbon token named
File-by-file findings list
"Create a Jira ticket from these findings"
→ Structured ticket created automatically:
  Title, description, severity-ranked findings,
  acceptance criteria, labels, assignee</a:t>
            </a:r>
          </a:p>
        </p:txBody>
      </p:sp>
      <p:sp>
        <p:nvSpPr>
          <p:cNvPr id="4" name="body_copy_02">
            <a:extLst>
              <a:ext uri="{FF2B5EF4-FFF2-40B4-BE49-F238E27FC236}">
                <a16:creationId xmlns:a16="http://schemas.microsoft.com/office/drawing/2014/main" id="{1420A861-6A4D-FA7D-F08D-8D8F8CD6E5D3}"/>
              </a:ext>
            </a:extLst>
          </p:cNvPr>
          <p:cNvSpPr>
            <a:spLocks noGrp="1"/>
          </p:cNvSpPr>
          <p:nvPr>
            <p:ph type="body" sz="quarter" idx="12"/>
          </p:nvPr>
        </p:nvSpPr>
        <p:spPr>
          <a:xfrm>
            <a:off x="12780000" y="3047999"/>
            <a:ext cx="10096500" cy="9153525"/>
          </a:xfrm>
        </p:spPr>
        <p:txBody>
          <a:bodyPr/>
          <a:lstStyle/>
          <a:p>
            <a:r>
              <a:rPr lang="en-US" dirty="0"/>
              <a:t>Developer takes the ticket to Bob:
"Fix the issues in this ticket"
→ Bob reads the acceptance criteria
→ Bob fixes the code
→ Developer reviews and approves
The compliance loop is closed — without a single manual step.
Powered by: Bob file tools + Carbon MCP + Jira MCP</a:t>
            </a:r>
          </a:p>
        </p:txBody>
      </p:sp>
      <p:sp>
        <p:nvSpPr>
          <p:cNvPr id="7" name="footer">
            <a:extLst>
              <a:ext uri="{FF2B5EF4-FFF2-40B4-BE49-F238E27FC236}">
                <a16:creationId xmlns:a16="http://schemas.microsoft.com/office/drawing/2014/main" id="{14019FA0-AF71-5184-B3FC-550EF95611EC}"/>
              </a:ext>
            </a:extLst>
          </p:cNvPr>
          <p:cNvSpPr>
            <a:spLocks noGrp="1"/>
          </p:cNvSpPr>
          <p:nvPr>
            <p:ph type="ftr" sz="quarter" idx="18"/>
          </p:nvPr>
        </p:nvSpPr>
        <p:spPr>
          <a:xfrm>
            <a:off x="576000" y="12816000"/>
            <a:ext cx="4956176" cy="381000"/>
          </a:xfrm>
        </p:spPr>
        <p:txBody>
          <a:bodyPr/>
          <a:lstStyle/>
          <a:p>
            <a:r>
              <a:t>IBM Confidential</a:t>
            </a:r>
            <a:endParaRPr lang="en-US" dirty="0"/>
          </a:p>
        </p:txBody>
      </p:sp>
      <p:sp>
        <p:nvSpPr>
          <p:cNvPr id="6" name="slide_number">
            <a:extLst>
              <a:ext uri="{FF2B5EF4-FFF2-40B4-BE49-F238E27FC236}">
                <a16:creationId xmlns:a16="http://schemas.microsoft.com/office/drawing/2014/main" id="{21070B66-2BBA-1AC0-94A3-1D4E1994AFAC}"/>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p>
            <a:fld id="{86CB4B4D-7CA3-9044-876B-883B54F8677D}" type="slidenum">
              <a:rPr lang="en-US" smtClean="0"/>
              <a:pPr/>
              <a:t>22</a:t>
            </a:fld>
            <a:r>
              <a:t/>
            </a:r>
            <a:endParaRPr lang="en-US" dirty="0"/>
          </a:p>
        </p:txBody>
      </p:sp>
    </p:spTree>
    <p:extLst>
      <p:ext uri="{BB962C8B-B14F-4D97-AF65-F5344CB8AC3E}">
        <p14:creationId xmlns:p14="http://schemas.microsoft.com/office/powerpoint/2010/main" val="3182962064"/>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8555A89-31D3-C769-71AD-38E9ADC2B454}"/>
              </a:ext>
            </a:extLst>
          </p:cNvPr>
          <p:cNvSpPr>
            <a:spLocks noGrp="1"/>
          </p:cNvSpPr>
          <p:nvPr>
            <p:ph type="title"/>
          </p:nvPr>
        </p:nvSpPr>
        <p:spPr>
          <a:xfrm>
            <a:off x="576000" y="384048"/>
            <a:ext cx="11042913" cy="2663825"/>
          </a:xfrm>
        </p:spPr>
        <p:txBody>
          <a:bodyPr/>
          <a:lstStyle/>
          <a:p>
            <a:r>
              <a:rPr lang="en-US" dirty="0"/>
              <a:t>05  Next steps</a:t>
            </a:r>
            <a:br>
              <a:rPr lang="en-US" dirty="0"/>
            </a:br>
            <a:r>
              <a:rPr lang="en-US" dirty="0"/>
              <a:t/>
            </a:r>
          </a:p>
        </p:txBody>
      </p:sp>
      <p:sp>
        <p:nvSpPr>
          <p:cNvPr id="9" name="slide_number">
            <a:extLst>
              <a:ext uri="{FF2B5EF4-FFF2-40B4-BE49-F238E27FC236}">
                <a16:creationId xmlns:a16="http://schemas.microsoft.com/office/drawing/2014/main" id="{41794889-6D85-5EF1-D228-19EEF3359F33}"/>
              </a:ext>
            </a:extLst>
          </p:cNvPr>
          <p:cNvSpPr>
            <a:spLocks noGrp="1" noRot="1" noMove="1" noResize="1" noEditPoints="1" noAdjustHandles="1" noChangeArrowheads="1" noChangeShapeType="1"/>
          </p:cNvSpPr>
          <p:nvPr>
            <p:ph type="sldNum" sz="quarter" idx="4"/>
          </p:nvPr>
        </p:nvSpPr>
        <p:spPr>
          <a:xfrm>
            <a:off x="23541592" y="12951538"/>
            <a:ext cx="270908" cy="246221"/>
          </a:xfrm>
        </p:spPr>
        <p:txBody>
          <a:bodyPr/>
          <a:lstStyle>
            <a:lvl1pPr>
              <a:defRPr>
                <a:solidFill>
                  <a:schemeClr val="tx1"/>
                </a:solidFill>
              </a:defRPr>
            </a:lvl1pPr>
          </a:lstStyle>
          <a:p>
            <a:fld id="{59395FB3-9C97-154F-86B2-7E381B951268}" type="slidenum">
              <a:rPr lang="en-US" smtClean="0"/>
              <a:pPr/>
              <a:t>6</a:t>
            </a:fld>
            <a:r>
              <a:t/>
            </a:r>
            <a:endParaRPr lang="en-US" dirty="0"/>
          </a:p>
        </p:txBody>
      </p:sp>
      <p:sp>
        <p:nvSpPr>
          <p:cNvPr id="4" name="footer">
            <a:extLst>
              <a:ext uri="{FF2B5EF4-FFF2-40B4-BE49-F238E27FC236}">
                <a16:creationId xmlns:a16="http://schemas.microsoft.com/office/drawing/2014/main" id="{758058FD-55FE-14C2-54F7-4C716F103C00}"/>
              </a:ext>
            </a:extLst>
          </p:cNvPr>
          <p:cNvSpPr>
            <a:spLocks noGrp="1"/>
          </p:cNvSpPr>
          <p:nvPr>
            <p:ph type="ftr" sz="quarter" idx="18"/>
          </p:nvPr>
        </p:nvSpPr>
        <p:spPr>
          <a:xfrm>
            <a:off x="576000" y="12816000"/>
            <a:ext cx="4956176" cy="381000"/>
          </a:xfrm>
        </p:spPr>
        <p:txBody>
          <a:bodyPr/>
          <a:lstStyle/>
          <a:p>
            <a:r>
              <a:t>IBM Confidential</a:t>
            </a:r>
            <a:endParaRPr lang="en-US" dirty="0"/>
          </a:p>
        </p:txBody>
      </p:sp>
    </p:spTree>
    <p:extLst>
      <p:ext uri="{BB962C8B-B14F-4D97-AF65-F5344CB8AC3E}">
        <p14:creationId xmlns:p14="http://schemas.microsoft.com/office/powerpoint/2010/main" val="2484813651"/>
      </p:ext>
    </p:extLst>
  </p:cSld>
  <p:clrMapOvr>
    <a:masterClrMapping/>
  </p:clrMapOvr>
  <p:transition spd="med"/>
</p:sld>
</file>

<file path=ppt/theme/theme1.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F04CA754-BE2C-4040-86D4-DB285EA1B18A}" vid="{1A6545FA-9223-B648-866A-185DFA4B43DC}"/>
    </a:ext>
  </a:extLst>
</a:theme>
</file>

<file path=ppt/theme/theme2.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3.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docProps/app.xml><?xml version="1.0" encoding="utf-8"?>
<Properties xmlns="http://schemas.openxmlformats.org/officeDocument/2006/extended-properties" xmlns:vt="http://schemas.openxmlformats.org/officeDocument/2006/docPropsVTypes">
  <Template/>
  <TotalTime>2629</TotalTime>
  <Words>13177</Words>
  <Application>Microsoft Macintosh PowerPoint</Application>
  <PresentationFormat>Custom</PresentationFormat>
  <Paragraphs>1057</Paragraphs>
  <Slides>25</Slides>
  <Notes>48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IBM Plex Sans</vt:lpstr>
      <vt:lpstr>IBM Plex Sans ExtLt</vt:lpstr>
      <vt:lpstr>IBM Plex Sans Light</vt:lpstr>
      <vt:lpstr>IBM Plex Sans Medm</vt:lpstr>
      <vt:lpstr>IBM presentation template</vt:lpstr>
      <vt:lpstr>68/84/132pt title,  5 lines maximum,  sentence case </vt:lpstr>
      <vt:lpstr>68/84/132pt title,  5 lines maximum,  sentence case</vt:lpstr>
      <vt:lpstr>68/84/132pt title,  5 lines maximum,  sentence case</vt:lpstr>
      <vt:lpstr>68/84/132pt title,  5 lines maximum,  sentence case</vt:lpstr>
      <vt:lpstr>Contents</vt:lpstr>
      <vt:lpstr>68/84pt section divider, 2 lines maximum</vt:lpstr>
      <vt:lpstr>168pt Go  simple and big  if possible</vt:lpstr>
      <vt:lpstr>36/42/68/84pt headline,  3 lines maximum,  sentence case</vt:lpstr>
      <vt:lpstr>PowerPoint Presentation</vt:lpstr>
      <vt:lpstr>PowerPoint Presentation</vt:lpstr>
      <vt:lpstr>28/36/42pt headline,  5 lines maximum, sentence case</vt:lpstr>
      <vt:lpstr>28/36/42pt headline,  5 lines maximum, sentence case</vt:lpstr>
      <vt:lpstr>+000M</vt:lpstr>
      <vt:lpstr>28/36/42pt headline,  5 lines maximum, sentence case</vt:lpstr>
      <vt:lpstr>28/36/42pt headline, 3 lines maximum, sentence case</vt:lpstr>
      <vt:lpstr>28/36/42pt headline, 3 lines maximum, sentence case</vt:lpstr>
      <vt:lpstr>28/36/42pt headline, 5 lines maximum, sentence case</vt:lpstr>
      <vt:lpstr>28/36/42pt headline, 3 lines maximum, sentence case</vt:lpstr>
      <vt:lpstr>28/36/42pt headline, 5 lines maximum, sentence case</vt:lpstr>
      <vt:lpstr>42/68pt</vt:lpstr>
      <vt:lpstr>42/68pt</vt:lpstr>
      <vt:lpstr>28/36/42pt headline, 3 lines maximum,  sentence case</vt:lpstr>
      <vt:lpstr>68/84pt headline, 3 lines maximum, sentence case</vt:lpstr>
      <vt:lpstr>68/84pt headline, 3 lines maximum, sentence case</vt:lpstr>
      <vt:lpstr>68/84pt headline, 3 lines maximum, sentence case</vt:lpstr>
      <vt:lpstr>42/68pt </vt:lpstr>
      <vt:lpstr>PowerPoint Presentation</vt:lpstr>
      <vt:lpstr>28/36/42pt headline,  5 lines maximum,  sentence case</vt:lpstr>
      <vt:lpstr>28/36/42pt headline,  5 lines maximum, sentence case</vt:lpstr>
      <vt:lpstr>68/84pt headline, 3 lines maximum, sentence case</vt:lpstr>
      <vt:lpstr>68/84pt headline, 3 lines maximum, sentence case</vt:lpstr>
      <vt:lpstr>PowerPoint Presentation</vt:lpstr>
      <vt:lpstr>PowerPoint Presentation</vt:lpstr>
      <vt:lpstr>68/84pt headline, 3 lines maximum, sentence case</vt:lpstr>
      <vt:lpstr>68/84pt headline, 3 lines maximum, sentence case</vt:lpstr>
      <vt:lpstr>28/36/42pt headline, 5 lines maximum, sentence case</vt:lpstr>
      <vt:lpstr>28/36/42pt headline, 5 lines maximum, sentence case</vt:lpstr>
      <vt:lpstr>68/84pt headline</vt:lpstr>
      <vt:lpstr>28/36/42pt headline,  3 lines maximum, sentence case</vt:lpstr>
      <vt:lpstr>28/36/42pt headline, 3 lines maximum, sentence case</vt:lpstr>
      <vt:lpstr>28/36/42pt headline, 3 lines maximum, sentence case</vt:lpstr>
      <vt:lpstr>28/36/42pt headline, 3 lines maximum, sentence case</vt:lpstr>
      <vt:lpstr>PowerPoint Presentation</vt:lpstr>
      <vt:lpstr>PowerPoint Presentation</vt:lpstr>
      <vt:lpstr>28/36/42pt headline, 2 lines maximum, sentence case </vt:lpstr>
      <vt:lpstr>28/36/42pt headline, 5 lines maximum, sentence case </vt:lpstr>
      <vt:lpstr>28/36/42pt headline, 5 lines maximum, sentence case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Diana Stanciulescu</dc:creator>
  <cp:keywords/>
  <dc:description/>
  <cp:lastModifiedBy>Andy Erskine</cp:lastModifiedBy>
  <cp:revision>32</cp:revision>
  <cp:lastPrinted>2019-04-25T15:14:05Z</cp:lastPrinted>
  <dcterms:created xsi:type="dcterms:W3CDTF">2024-10-31T09:55:46Z</dcterms:created>
  <dcterms:modified xsi:type="dcterms:W3CDTF">2026-07-08T21:06:00Z</dcterms:modified>
  <cp:category/>
</cp:coreProperties>
</file>